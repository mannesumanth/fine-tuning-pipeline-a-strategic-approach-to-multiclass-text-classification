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8" r:id="rId2"/>
    <p:sldId id="277" r:id="rId3"/>
    <p:sldId id="261" r:id="rId4"/>
    <p:sldId id="262" r:id="rId5"/>
    <p:sldId id="263" r:id="rId6"/>
    <p:sldId id="264" r:id="rId7"/>
    <p:sldId id="265" r:id="rId8"/>
    <p:sldId id="266" r:id="rId9"/>
    <p:sldId id="267" r:id="rId10"/>
    <p:sldId id="285" r:id="rId11"/>
    <p:sldId id="268" r:id="rId12"/>
    <p:sldId id="269" r:id="rId13"/>
    <p:sldId id="270" r:id="rId14"/>
    <p:sldId id="278" r:id="rId15"/>
    <p:sldId id="284" r:id="rId16"/>
    <p:sldId id="28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66FF"/>
    <a:srgbClr val="3399FF"/>
    <a:srgbClr val="6600FF"/>
    <a:srgbClr val="CC0099"/>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6738E8-2547-4E73-8E28-BABD3FFA9E0E}" v="30" dt="2024-03-19T10:43:25.6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5801" autoAdjust="0"/>
  </p:normalViewPr>
  <p:slideViewPr>
    <p:cSldViewPr>
      <p:cViewPr varScale="1">
        <p:scale>
          <a:sx n="82" d="100"/>
          <a:sy n="82" d="100"/>
        </p:scale>
        <p:origin x="147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3211609418388"/>
          <c:y val="0.1395555792012485"/>
          <c:w val="0.89655796150481193"/>
          <c:h val="0.61498432487605714"/>
        </c:manualLayout>
      </c:layout>
      <c:lineChart>
        <c:grouping val="standard"/>
        <c:varyColors val="0"/>
        <c:ser>
          <c:idx val="0"/>
          <c:order val="0"/>
          <c:tx>
            <c:v>Paragraph 1</c:v>
          </c:tx>
          <c:spPr>
            <a:ln w="28575" cap="rnd">
              <a:solidFill>
                <a:schemeClr val="accent1"/>
              </a:solidFill>
              <a:round/>
            </a:ln>
            <a:effectLst/>
          </c:spPr>
          <c:marker>
            <c:symbol val="circle"/>
            <c:size val="5"/>
            <c:spPr>
              <a:solidFill>
                <a:schemeClr val="accent1"/>
              </a:solidFill>
              <a:ln w="9525">
                <a:solidFill>
                  <a:schemeClr val="accent1"/>
                </a:solidFill>
              </a:ln>
              <a:effectLst/>
            </c:spPr>
          </c:marker>
          <c:cat>
            <c:strRef>
              <c:f>Sheet1!$A$1:$E$1</c:f>
              <c:strCache>
                <c:ptCount val="5"/>
                <c:pt idx="0">
                  <c:v>BERT</c:v>
                </c:pt>
                <c:pt idx="1">
                  <c:v>BART</c:v>
                </c:pt>
                <c:pt idx="2">
                  <c:v>GEMINI </c:v>
                </c:pt>
                <c:pt idx="3">
                  <c:v>GPT </c:v>
                </c:pt>
                <c:pt idx="4">
                  <c:v>FINETUNING</c:v>
                </c:pt>
              </c:strCache>
            </c:strRef>
          </c:cat>
          <c:val>
            <c:numRef>
              <c:f>Sheet1!$A$2:$E$2</c:f>
              <c:numCache>
                <c:formatCode>General</c:formatCode>
                <c:ptCount val="5"/>
                <c:pt idx="0">
                  <c:v>0.34</c:v>
                </c:pt>
                <c:pt idx="1">
                  <c:v>0.45</c:v>
                </c:pt>
                <c:pt idx="2">
                  <c:v>0.67</c:v>
                </c:pt>
                <c:pt idx="3">
                  <c:v>0.74</c:v>
                </c:pt>
                <c:pt idx="4">
                  <c:v>0.83</c:v>
                </c:pt>
              </c:numCache>
            </c:numRef>
          </c:val>
          <c:smooth val="0"/>
          <c:extLst>
            <c:ext xmlns:c16="http://schemas.microsoft.com/office/drawing/2014/chart" uri="{C3380CC4-5D6E-409C-BE32-E72D297353CC}">
              <c16:uniqueId val="{00000000-25EB-456F-A07E-1CB398CDA195}"/>
            </c:ext>
          </c:extLst>
        </c:ser>
        <c:ser>
          <c:idx val="1"/>
          <c:order val="1"/>
          <c:tx>
            <c:v>Paragraph 2</c:v>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Sheet1!$A$1:$E$1</c:f>
              <c:strCache>
                <c:ptCount val="5"/>
                <c:pt idx="0">
                  <c:v>BERT</c:v>
                </c:pt>
                <c:pt idx="1">
                  <c:v>BART</c:v>
                </c:pt>
                <c:pt idx="2">
                  <c:v>GEMINI </c:v>
                </c:pt>
                <c:pt idx="3">
                  <c:v>GPT </c:v>
                </c:pt>
                <c:pt idx="4">
                  <c:v>FINETUNING</c:v>
                </c:pt>
              </c:strCache>
            </c:strRef>
          </c:cat>
          <c:val>
            <c:numRef>
              <c:f>Sheet1!$A$3:$E$3</c:f>
              <c:numCache>
                <c:formatCode>General</c:formatCode>
                <c:ptCount val="5"/>
                <c:pt idx="0">
                  <c:v>0.17</c:v>
                </c:pt>
                <c:pt idx="1">
                  <c:v>0.44</c:v>
                </c:pt>
                <c:pt idx="2">
                  <c:v>0</c:v>
                </c:pt>
                <c:pt idx="3">
                  <c:v>0.71</c:v>
                </c:pt>
                <c:pt idx="4">
                  <c:v>0.86</c:v>
                </c:pt>
              </c:numCache>
            </c:numRef>
          </c:val>
          <c:smooth val="0"/>
          <c:extLst>
            <c:ext xmlns:c16="http://schemas.microsoft.com/office/drawing/2014/chart" uri="{C3380CC4-5D6E-409C-BE32-E72D297353CC}">
              <c16:uniqueId val="{00000001-25EB-456F-A07E-1CB398CDA195}"/>
            </c:ext>
          </c:extLst>
        </c:ser>
        <c:ser>
          <c:idx val="2"/>
          <c:order val="2"/>
          <c:tx>
            <c:v>Paragraph 3</c:v>
          </c:tx>
          <c:spPr>
            <a:ln w="28575" cap="rnd">
              <a:solidFill>
                <a:schemeClr val="accent3"/>
              </a:solidFill>
              <a:round/>
            </a:ln>
            <a:effectLst/>
          </c:spPr>
          <c:marker>
            <c:symbol val="circle"/>
            <c:size val="5"/>
            <c:spPr>
              <a:solidFill>
                <a:schemeClr val="accent3"/>
              </a:solidFill>
              <a:ln w="9525">
                <a:solidFill>
                  <a:schemeClr val="accent3"/>
                </a:solidFill>
              </a:ln>
              <a:effectLst/>
            </c:spPr>
          </c:marker>
          <c:cat>
            <c:strRef>
              <c:f>Sheet1!$A$1:$E$1</c:f>
              <c:strCache>
                <c:ptCount val="5"/>
                <c:pt idx="0">
                  <c:v>BERT</c:v>
                </c:pt>
                <c:pt idx="1">
                  <c:v>BART</c:v>
                </c:pt>
                <c:pt idx="2">
                  <c:v>GEMINI </c:v>
                </c:pt>
                <c:pt idx="3">
                  <c:v>GPT </c:v>
                </c:pt>
                <c:pt idx="4">
                  <c:v>FINETUNING</c:v>
                </c:pt>
              </c:strCache>
            </c:strRef>
          </c:cat>
          <c:val>
            <c:numRef>
              <c:f>Sheet1!$A$4:$E$4</c:f>
              <c:numCache>
                <c:formatCode>General</c:formatCode>
                <c:ptCount val="5"/>
                <c:pt idx="0">
                  <c:v>0.25</c:v>
                </c:pt>
                <c:pt idx="1">
                  <c:v>0.56999999999999995</c:v>
                </c:pt>
                <c:pt idx="2">
                  <c:v>0</c:v>
                </c:pt>
                <c:pt idx="3">
                  <c:v>0.77</c:v>
                </c:pt>
                <c:pt idx="4">
                  <c:v>0.81</c:v>
                </c:pt>
              </c:numCache>
            </c:numRef>
          </c:val>
          <c:smooth val="0"/>
          <c:extLst>
            <c:ext xmlns:c16="http://schemas.microsoft.com/office/drawing/2014/chart" uri="{C3380CC4-5D6E-409C-BE32-E72D297353CC}">
              <c16:uniqueId val="{00000002-25EB-456F-A07E-1CB398CDA195}"/>
            </c:ext>
          </c:extLst>
        </c:ser>
        <c:ser>
          <c:idx val="3"/>
          <c:order val="3"/>
          <c:tx>
            <c:v>Paragraph 3</c:v>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Sheet1!$A$1:$E$1</c:f>
              <c:strCache>
                <c:ptCount val="5"/>
                <c:pt idx="0">
                  <c:v>BERT</c:v>
                </c:pt>
                <c:pt idx="1">
                  <c:v>BART</c:v>
                </c:pt>
                <c:pt idx="2">
                  <c:v>GEMINI </c:v>
                </c:pt>
                <c:pt idx="3">
                  <c:v>GPT </c:v>
                </c:pt>
                <c:pt idx="4">
                  <c:v>FINETUNING</c:v>
                </c:pt>
              </c:strCache>
            </c:strRef>
          </c:cat>
          <c:val>
            <c:numRef>
              <c:f>Sheet1!$A$5:$E$5</c:f>
              <c:numCache>
                <c:formatCode>General</c:formatCode>
                <c:ptCount val="5"/>
                <c:pt idx="0">
                  <c:v>0.39</c:v>
                </c:pt>
                <c:pt idx="1">
                  <c:v>0.38</c:v>
                </c:pt>
                <c:pt idx="2">
                  <c:v>0.69</c:v>
                </c:pt>
                <c:pt idx="3">
                  <c:v>0.79</c:v>
                </c:pt>
                <c:pt idx="4">
                  <c:v>0.89</c:v>
                </c:pt>
              </c:numCache>
            </c:numRef>
          </c:val>
          <c:smooth val="0"/>
          <c:extLst>
            <c:ext xmlns:c16="http://schemas.microsoft.com/office/drawing/2014/chart" uri="{C3380CC4-5D6E-409C-BE32-E72D297353CC}">
              <c16:uniqueId val="{00000003-25EB-456F-A07E-1CB398CDA195}"/>
            </c:ext>
          </c:extLst>
        </c:ser>
        <c:dLbls>
          <c:showLegendKey val="0"/>
          <c:showVal val="0"/>
          <c:showCatName val="0"/>
          <c:showSerName val="0"/>
          <c:showPercent val="0"/>
          <c:showBubbleSize val="0"/>
        </c:dLbls>
        <c:marker val="1"/>
        <c:smooth val="0"/>
        <c:axId val="380462144"/>
        <c:axId val="380462624"/>
      </c:lineChart>
      <c:catAx>
        <c:axId val="380462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0462624"/>
        <c:crosses val="autoZero"/>
        <c:auto val="1"/>
        <c:lblAlgn val="ctr"/>
        <c:lblOffset val="100"/>
        <c:noMultiLvlLbl val="0"/>
      </c:catAx>
      <c:valAx>
        <c:axId val="38046262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80462144"/>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66D9458-9075-4A57-B40F-239DDE969533}" type="datetimeFigureOut">
              <a:rPr lang="en-US" smtClean="0"/>
              <a:pPr/>
              <a:t>11/5/2025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20DF554-746B-432F-8409-BCA425B1911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20DF554-746B-432F-8409-BCA425B19116}"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2/9/2024</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2/9/2024</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2/9/2024</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2/9/2024</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2/9/2024</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2/9/2024</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2/9/2024</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2/9/2024</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2/9/2024</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2/9/2024</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2/9/2024</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5BAD83-2C4C-4E42-8C1A-0F09C320E5D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2/9/2024</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5BAD83-2C4C-4E42-8C1A-0F09C320E5D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09600" y="228600"/>
            <a:ext cx="2064989" cy="523220"/>
          </a:xfrm>
          <a:prstGeom prst="rect">
            <a:avLst/>
          </a:prstGeom>
          <a:noFill/>
        </p:spPr>
        <p:txBody>
          <a:bodyPr wrap="none" rtlCol="0">
            <a:spAutoFit/>
          </a:bodyPr>
          <a:lstStyle/>
          <a:p>
            <a:r>
              <a:rPr lang="en-US" sz="2800" b="1" dirty="0">
                <a:solidFill>
                  <a:srgbClr val="3366FF"/>
                </a:solidFill>
                <a:latin typeface="+mj-lt"/>
                <a:cs typeface="Arial" pitchFamily="34" charset="0"/>
              </a:rPr>
              <a:t>Introduction</a:t>
            </a:r>
          </a:p>
        </p:txBody>
      </p:sp>
      <p:sp>
        <p:nvSpPr>
          <p:cNvPr id="5" name="Rectangle 4"/>
          <p:cNvSpPr/>
          <p:nvPr/>
        </p:nvSpPr>
        <p:spPr>
          <a:xfrm>
            <a:off x="1219200" y="968156"/>
            <a:ext cx="7467600" cy="1631216"/>
          </a:xfrm>
          <a:prstGeom prst="rect">
            <a:avLst/>
          </a:prstGeom>
        </p:spPr>
        <p:txBody>
          <a:bodyPr wrap="square">
            <a:spAutoFit/>
          </a:bodyPr>
          <a:lstStyle/>
          <a:p>
            <a:pPr algn="just">
              <a:buClr>
                <a:srgbClr val="3366FF"/>
              </a:buClr>
              <a:buFont typeface="Arial" pitchFamily="34" charset="0"/>
              <a:buChar char="•"/>
            </a:pPr>
            <a:r>
              <a:rPr lang="en-IN" sz="2000" dirty="0">
                <a:solidFill>
                  <a:srgbClr val="3366FF"/>
                </a:solidFill>
                <a:latin typeface="Times New Roman" panose="02020603050405020304" pitchFamily="18" charset="0"/>
                <a:cs typeface="Times New Roman" panose="02020603050405020304" pitchFamily="18" charset="0"/>
              </a:rPr>
              <a:t> Natural Language Processing (NLP) </a:t>
            </a:r>
            <a:r>
              <a:rPr lang="en-IN" sz="2000" dirty="0">
                <a:latin typeface="Times New Roman" panose="02020603050405020304" pitchFamily="18" charset="0"/>
                <a:cs typeface="Times New Roman" panose="02020603050405020304" pitchFamily="18" charset="0"/>
              </a:rPr>
              <a:t>is performed on the text to</a:t>
            </a:r>
          </a:p>
          <a:p>
            <a:pPr algn="just">
              <a:buClr>
                <a:srgbClr val="3366FF"/>
              </a:buClr>
            </a:pPr>
            <a:r>
              <a:rPr lang="en-IN" sz="2000" dirty="0">
                <a:latin typeface="Times New Roman" panose="02020603050405020304" pitchFamily="18" charset="0"/>
                <a:cs typeface="Times New Roman" panose="02020603050405020304" pitchFamily="18" charset="0"/>
              </a:rPr>
              <a:t>   complete  certain tasks like </a:t>
            </a:r>
          </a:p>
          <a:p>
            <a:pPr lvl="2" algn="just">
              <a:buClr>
                <a:srgbClr val="3366FF"/>
              </a:buClr>
              <a:buFont typeface="Arial" pitchFamily="34" charset="0"/>
              <a:buChar char="•"/>
            </a:pPr>
            <a:r>
              <a:rPr lang="en-IN" sz="2000" dirty="0">
                <a:latin typeface="Times New Roman" panose="02020603050405020304" pitchFamily="18" charset="0"/>
                <a:cs typeface="Times New Roman" panose="02020603050405020304" pitchFamily="18" charset="0"/>
              </a:rPr>
              <a:t> Opinion mining</a:t>
            </a:r>
          </a:p>
          <a:p>
            <a:pPr lvl="2" algn="just">
              <a:buClr>
                <a:srgbClr val="3366FF"/>
              </a:buClr>
              <a:buFont typeface="Arial" pitchFamily="34" charset="0"/>
              <a:buChar char="•"/>
            </a:pPr>
            <a:r>
              <a:rPr lang="en-IN" sz="2000" dirty="0">
                <a:latin typeface="Times New Roman" panose="02020603050405020304" pitchFamily="18" charset="0"/>
                <a:cs typeface="Times New Roman" panose="02020603050405020304" pitchFamily="18" charset="0"/>
              </a:rPr>
              <a:t> Sentiment analysis</a:t>
            </a:r>
          </a:p>
          <a:p>
            <a:pPr lvl="2" algn="just">
              <a:buClr>
                <a:srgbClr val="3366FF"/>
              </a:buClr>
              <a:buFont typeface="Arial" pitchFamily="34" charset="0"/>
              <a:buChar char="•"/>
            </a:pPr>
            <a:r>
              <a:rPr lang="en-IN" sz="2000" dirty="0">
                <a:latin typeface="Times New Roman" panose="02020603050405020304" pitchFamily="18" charset="0"/>
                <a:cs typeface="Times New Roman" panose="02020603050405020304" pitchFamily="18" charset="0"/>
              </a:rPr>
              <a:t> Automatic question, and answers generation, etc</a:t>
            </a:r>
            <a:endParaRPr lang="en-US" sz="2000" dirty="0">
              <a:latin typeface="Times New Roman" panose="02020603050405020304" pitchFamily="18"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625BAD83-2C4C-4E42-8C1A-0F09C320E5DA}" type="slidenum">
              <a:rPr lang="en-US" smtClean="0"/>
              <a:pPr/>
              <a:t>1</a:t>
            </a:fld>
            <a:endParaRPr lang="en-US"/>
          </a:p>
        </p:txBody>
      </p:sp>
      <p:sp>
        <p:nvSpPr>
          <p:cNvPr id="6" name="Rectangle 5">
            <a:extLst>
              <a:ext uri="{FF2B5EF4-FFF2-40B4-BE49-F238E27FC236}">
                <a16:creationId xmlns:a16="http://schemas.microsoft.com/office/drawing/2014/main" id="{B2ABD192-55C9-46AC-B1DA-9C863546B672}"/>
              </a:ext>
            </a:extLst>
          </p:cNvPr>
          <p:cNvSpPr/>
          <p:nvPr/>
        </p:nvSpPr>
        <p:spPr>
          <a:xfrm>
            <a:off x="1219200" y="2827468"/>
            <a:ext cx="7696200" cy="2862322"/>
          </a:xfrm>
          <a:prstGeom prst="rect">
            <a:avLst/>
          </a:prstGeom>
        </p:spPr>
        <p:txBody>
          <a:bodyPr wrap="square">
            <a:spAutoFit/>
          </a:bodyPr>
          <a:lstStyle/>
          <a:p>
            <a:pPr algn="just">
              <a:buClr>
                <a:srgbClr val="3366FF"/>
              </a:buClr>
              <a:buFont typeface="Arial" pitchFamily="34" charset="0"/>
              <a:buChar char="•"/>
            </a:pPr>
            <a:r>
              <a:rPr lang="en-IN" b="1" dirty="0">
                <a:solidFill>
                  <a:srgbClr val="3366FF"/>
                </a:solidFill>
                <a:latin typeface="Times New Roman" panose="02020603050405020304" pitchFamily="18" charset="0"/>
                <a:cs typeface="Times New Roman" panose="02020603050405020304" pitchFamily="18" charset="0"/>
              </a:rPr>
              <a:t> </a:t>
            </a:r>
            <a:r>
              <a:rPr lang="en-IN" sz="2000" dirty="0">
                <a:solidFill>
                  <a:srgbClr val="3366FF"/>
                </a:solidFill>
                <a:latin typeface="Times New Roman" panose="02020603050405020304" pitchFamily="18" charset="0"/>
                <a:cs typeface="Times New Roman" panose="02020603050405020304" pitchFamily="18" charset="0"/>
              </a:rPr>
              <a:t>Text classification</a:t>
            </a: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distinct from Named Entity Recognition (NER),  a</a:t>
            </a:r>
          </a:p>
          <a:p>
            <a:pPr algn="just">
              <a:buClr>
                <a:srgbClr val="3366FF"/>
              </a:buClr>
            </a:pPr>
            <a:r>
              <a:rPr lang="en-IN" sz="2000" dirty="0">
                <a:latin typeface="Times New Roman" panose="02020603050405020304" pitchFamily="18" charset="0"/>
                <a:cs typeface="Times New Roman" panose="02020603050405020304" pitchFamily="18" charset="0"/>
              </a:rPr>
              <a:t>   machine learning algorithm that serves the purpose of categorizing</a:t>
            </a:r>
          </a:p>
          <a:p>
            <a:pPr algn="just">
              <a:buClr>
                <a:srgbClr val="3366FF"/>
              </a:buClr>
            </a:pPr>
            <a:r>
              <a:rPr lang="en-IN" sz="2000" dirty="0">
                <a:latin typeface="Times New Roman" panose="02020603050405020304" pitchFamily="18" charset="0"/>
                <a:cs typeface="Times New Roman" panose="02020603050405020304" pitchFamily="18" charset="0"/>
              </a:rPr>
              <a:t>   entire texts or documents into predefined classes or groups.  </a:t>
            </a:r>
          </a:p>
          <a:p>
            <a:pPr algn="just">
              <a:buClr>
                <a:srgbClr val="3366FF"/>
              </a:buClr>
              <a:buFont typeface="Arial" pitchFamily="34" charset="0"/>
              <a:buChar char="•"/>
            </a:pPr>
            <a:endParaRPr lang="en-IN" sz="2000" dirty="0">
              <a:latin typeface="Times New Roman" panose="02020603050405020304" pitchFamily="18" charset="0"/>
              <a:cs typeface="Times New Roman" panose="02020603050405020304" pitchFamily="18" charset="0"/>
            </a:endParaRPr>
          </a:p>
          <a:p>
            <a:pPr algn="just">
              <a:buClr>
                <a:srgbClr val="3366FF"/>
              </a:buClr>
              <a:buFont typeface="Arial" pitchFamily="34" charset="0"/>
              <a:buChar char="•"/>
            </a:pPr>
            <a:r>
              <a:rPr lang="en-IN" sz="2000" dirty="0">
                <a:latin typeface="Times New Roman" panose="02020603050405020304" pitchFamily="18" charset="0"/>
                <a:cs typeface="Times New Roman" panose="02020603050405020304" pitchFamily="18" charset="0"/>
              </a:rPr>
              <a:t> Unlike NER, which focuses on identifying specific entities within the</a:t>
            </a:r>
          </a:p>
          <a:p>
            <a:pPr algn="just">
              <a:buClr>
                <a:srgbClr val="3366FF"/>
              </a:buClr>
            </a:pPr>
            <a:r>
              <a:rPr lang="en-IN" sz="2000" dirty="0">
                <a:latin typeface="Times New Roman" panose="02020603050405020304" pitchFamily="18" charset="0"/>
                <a:cs typeface="Times New Roman" panose="02020603050405020304" pitchFamily="18" charset="0"/>
              </a:rPr>
              <a:t>   text.</a:t>
            </a:r>
          </a:p>
          <a:p>
            <a:pPr algn="just">
              <a:buClr>
                <a:srgbClr val="3366FF"/>
              </a:buClr>
            </a:pPr>
            <a:endParaRPr lang="en-IN" sz="2000" dirty="0">
              <a:latin typeface="Times New Roman" panose="02020603050405020304" pitchFamily="18" charset="0"/>
              <a:cs typeface="Times New Roman" panose="02020603050405020304" pitchFamily="18" charset="0"/>
            </a:endParaRPr>
          </a:p>
          <a:p>
            <a:pPr algn="just">
              <a:buClr>
                <a:srgbClr val="3366FF"/>
              </a:buClr>
              <a:buFont typeface="Arial" pitchFamily="34" charset="0"/>
              <a:buChar char="•"/>
            </a:pPr>
            <a:r>
              <a:rPr lang="en-IN" sz="2000" dirty="0">
                <a:latin typeface="Times New Roman" panose="02020603050405020304" pitchFamily="18" charset="0"/>
                <a:cs typeface="Times New Roman" panose="02020603050405020304" pitchFamily="18" charset="0"/>
              </a:rPr>
              <a:t> Text classification takes a holistic view of the content to make</a:t>
            </a:r>
          </a:p>
          <a:p>
            <a:pPr algn="just">
              <a:buClr>
                <a:srgbClr val="3366FF"/>
              </a:buClr>
            </a:pPr>
            <a:r>
              <a:rPr lang="en-IN" sz="2000" dirty="0">
                <a:latin typeface="Times New Roman" panose="02020603050405020304" pitchFamily="18" charset="0"/>
                <a:cs typeface="Times New Roman" panose="02020603050405020304" pitchFamily="18" charset="0"/>
              </a:rPr>
              <a:t>   judgments about its overall characteristics.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04207" y="675620"/>
            <a:ext cx="7620000" cy="4801314"/>
          </a:xfrm>
          <a:prstGeom prst="rect">
            <a:avLst/>
          </a:prstGeom>
          <a:ln>
            <a:solidFill>
              <a:schemeClr val="bg1"/>
            </a:solidFill>
          </a:ln>
        </p:spPr>
        <p:txBody>
          <a:bodyPr wrap="square">
            <a:spAutoFit/>
          </a:bodyPr>
          <a:lstStyle/>
          <a:p>
            <a:pPr algn="just"/>
            <a:endParaRPr lang="en-IN" dirty="0"/>
          </a:p>
          <a:p>
            <a:pPr algn="just">
              <a:buClr>
                <a:srgbClr val="3366FF"/>
              </a:buClr>
              <a:buFont typeface="Arial" pitchFamily="34" charset="0"/>
              <a:buChar char="•"/>
            </a:pPr>
            <a:r>
              <a:rPr lang="en-IN" b="1" dirty="0">
                <a:solidFill>
                  <a:srgbClr val="3366FF"/>
                </a:solidFill>
                <a:latin typeface="Times New Roman" panose="02020603050405020304" pitchFamily="18" charset="0"/>
                <a:cs typeface="Times New Roman" panose="02020603050405020304" pitchFamily="18" charset="0"/>
              </a:rPr>
              <a:t> </a:t>
            </a:r>
            <a:r>
              <a:rPr lang="en-IN" dirty="0">
                <a:solidFill>
                  <a:srgbClr val="3366FF"/>
                </a:solidFill>
                <a:latin typeface="Times New Roman" panose="02020603050405020304" pitchFamily="18" charset="0"/>
                <a:cs typeface="Times New Roman" panose="02020603050405020304" pitchFamily="18" charset="0"/>
              </a:rPr>
              <a:t>Multiclass Classification </a:t>
            </a:r>
            <a:r>
              <a:rPr lang="en-IN" dirty="0">
                <a:latin typeface="Times New Roman" panose="02020603050405020304" pitchFamily="18" charset="0"/>
                <a:cs typeface="Times New Roman" panose="02020603050405020304" pitchFamily="18" charset="0"/>
              </a:rPr>
              <a:t>is where each data sample is assigned one</a:t>
            </a:r>
          </a:p>
          <a:p>
            <a:pPr algn="just">
              <a:buClr>
                <a:srgbClr val="3366FF"/>
              </a:buClr>
            </a:pPr>
            <a:r>
              <a:rPr lang="en-IN" dirty="0">
                <a:latin typeface="Times New Roman" panose="02020603050405020304" pitchFamily="18" charset="0"/>
                <a:cs typeface="Times New Roman" panose="02020603050405020304" pitchFamily="18" charset="0"/>
              </a:rPr>
              <a:t>   and only one label from more than two classes.</a:t>
            </a:r>
          </a:p>
          <a:p>
            <a:pPr algn="just">
              <a:buClr>
                <a:srgbClr val="3366FF"/>
              </a:buClr>
              <a:buFont typeface="Arial" pitchFamily="34" charset="0"/>
              <a:buChar char="•"/>
            </a:pPr>
            <a:endParaRPr lang="en-US" dirty="0">
              <a:latin typeface="Times New Roman" panose="02020603050405020304" pitchFamily="18" charset="0"/>
              <a:cs typeface="Times New Roman" panose="02020603050405020304" pitchFamily="18" charset="0"/>
            </a:endParaRPr>
          </a:p>
          <a:p>
            <a:pPr algn="just">
              <a:buClr>
                <a:srgbClr val="3366FF"/>
              </a:buClr>
              <a:buFont typeface="Arial" pitchFamily="34" charset="0"/>
              <a:buChar char="•"/>
            </a:pPr>
            <a:r>
              <a:rPr lang="en-US" dirty="0">
                <a:latin typeface="Times New Roman" panose="02020603050405020304" pitchFamily="18" charset="0"/>
                <a:cs typeface="Times New Roman" panose="02020603050405020304" pitchFamily="18" charset="0"/>
              </a:rPr>
              <a:t> Multiclass text classification serves as a foundational step in Question-answer  </a:t>
            </a:r>
          </a:p>
          <a:p>
            <a:pPr algn="just">
              <a:buClr>
                <a:srgbClr val="3366FF"/>
              </a:buClr>
            </a:pPr>
            <a:r>
              <a:rPr lang="en-US" dirty="0">
                <a:latin typeface="Times New Roman" panose="02020603050405020304" pitchFamily="18" charset="0"/>
                <a:cs typeface="Times New Roman" panose="02020603050405020304" pitchFamily="18" charset="0"/>
              </a:rPr>
              <a:t>   generation, facilitating the production of relevant Questions and answers.</a:t>
            </a:r>
          </a:p>
          <a:p>
            <a:pPr algn="just">
              <a:buClr>
                <a:srgbClr val="3366FF"/>
              </a:buClr>
            </a:pPr>
            <a:endParaRPr lang="en-US" dirty="0">
              <a:latin typeface="Times New Roman" panose="02020603050405020304" pitchFamily="18" charset="0"/>
              <a:cs typeface="Times New Roman" panose="02020603050405020304" pitchFamily="18" charset="0"/>
            </a:endParaRPr>
          </a:p>
          <a:p>
            <a:pPr algn="just">
              <a:buClr>
                <a:srgbClr val="3366FF"/>
              </a:buClr>
              <a:buFont typeface="Arial" pitchFamily="34" charset="0"/>
              <a:buChar char="•"/>
            </a:pPr>
            <a:r>
              <a:rPr lang="en-US" dirty="0">
                <a:latin typeface="Times New Roman" panose="02020603050405020304" pitchFamily="18" charset="0"/>
                <a:cs typeface="Times New Roman" panose="02020603050405020304" pitchFamily="18" charset="0"/>
              </a:rPr>
              <a:t> In the Past research was done using BERT, BART, GPT, etc.</a:t>
            </a:r>
          </a:p>
          <a:p>
            <a:pPr algn="just">
              <a:buClr>
                <a:srgbClr val="3366FF"/>
              </a:buClr>
              <a:buFont typeface="Arial" pitchFamily="34" charset="0"/>
              <a:buChar char="•"/>
            </a:pPr>
            <a:endParaRPr lang="en-US" dirty="0">
              <a:latin typeface="Times New Roman" panose="02020603050405020304" pitchFamily="18" charset="0"/>
              <a:cs typeface="Times New Roman" panose="02020603050405020304" pitchFamily="18" charset="0"/>
            </a:endParaRPr>
          </a:p>
          <a:p>
            <a:pPr algn="just">
              <a:buClr>
                <a:srgbClr val="3366FF"/>
              </a:buClr>
              <a:buFont typeface="Arial" pitchFamily="34" charset="0"/>
              <a:buChar char="•"/>
            </a:pPr>
            <a:r>
              <a:rPr lang="en-US" dirty="0">
                <a:latin typeface="Times New Roman" panose="02020603050405020304" pitchFamily="18" charset="0"/>
                <a:cs typeface="Times New Roman" panose="02020603050405020304" pitchFamily="18" charset="0"/>
              </a:rPr>
              <a:t> In our research, the model was developed using LLMS like GPT. Fine-tuning</a:t>
            </a:r>
          </a:p>
          <a:p>
            <a:pPr algn="just">
              <a:buClr>
                <a:srgbClr val="3366FF"/>
              </a:buClr>
            </a:pPr>
            <a:r>
              <a:rPr lang="en-US" dirty="0">
                <a:solidFill>
                  <a:schemeClr val="bg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was carried out in the process to get the desired outcomes.</a:t>
            </a:r>
          </a:p>
          <a:p>
            <a:pPr algn="just">
              <a:buClr>
                <a:srgbClr val="3366FF"/>
              </a:buClr>
            </a:pPr>
            <a:endParaRPr lang="en-US" dirty="0">
              <a:latin typeface="Times New Roman" panose="02020603050405020304" pitchFamily="18" charset="0"/>
              <a:cs typeface="Times New Roman" panose="02020603050405020304" pitchFamily="18" charset="0"/>
            </a:endParaRPr>
          </a:p>
          <a:p>
            <a:pPr algn="just">
              <a:buClr>
                <a:srgbClr val="3366FF"/>
              </a:buClr>
              <a:buFont typeface="Arial" pitchFamily="34" charset="0"/>
              <a:buChar char="•"/>
            </a:pPr>
            <a:r>
              <a:rPr lang="en-US" dirty="0">
                <a:latin typeface="Times New Roman" panose="02020603050405020304" pitchFamily="18" charset="0"/>
                <a:cs typeface="Times New Roman" panose="02020603050405020304" pitchFamily="18" charset="0"/>
              </a:rPr>
              <a:t> Using the fine-tuning process in the NLP pipeline, our model has achieved </a:t>
            </a:r>
          </a:p>
          <a:p>
            <a:pPr algn="just">
              <a:buClr>
                <a:srgbClr val="3366FF"/>
              </a:buClr>
            </a:pPr>
            <a:r>
              <a:rPr lang="en-US" dirty="0">
                <a:latin typeface="Times New Roman" panose="02020603050405020304" pitchFamily="18" charset="0"/>
                <a:cs typeface="Times New Roman" panose="02020603050405020304" pitchFamily="18" charset="0"/>
              </a:rPr>
              <a:t>   superior accuracy compared to other models.</a:t>
            </a:r>
          </a:p>
          <a:p>
            <a:pPr algn="just">
              <a:buClr>
                <a:srgbClr val="3366FF"/>
              </a:buClr>
            </a:pPr>
            <a:endParaRPr lang="en-US" dirty="0"/>
          </a:p>
          <a:p>
            <a:pPr algn="just">
              <a:buClr>
                <a:srgbClr val="3366FF"/>
              </a:buClr>
            </a:pPr>
            <a:endParaRPr lang="en-US" dirty="0"/>
          </a:p>
          <a:p>
            <a:pPr algn="just">
              <a:buClr>
                <a:srgbClr val="3366FF"/>
              </a:buClr>
            </a:pPr>
            <a:endParaRPr lang="en-US" dirty="0"/>
          </a:p>
        </p:txBody>
      </p:sp>
      <p:sp>
        <p:nvSpPr>
          <p:cNvPr id="5" name="TextBox 4"/>
          <p:cNvSpPr txBox="1"/>
          <p:nvPr/>
        </p:nvSpPr>
        <p:spPr>
          <a:xfrm>
            <a:off x="304800" y="152400"/>
            <a:ext cx="2573461" cy="523220"/>
          </a:xfrm>
          <a:prstGeom prst="rect">
            <a:avLst/>
          </a:prstGeom>
          <a:noFill/>
        </p:spPr>
        <p:txBody>
          <a:bodyPr wrap="none" rtlCol="0">
            <a:spAutoFit/>
          </a:bodyPr>
          <a:lstStyle/>
          <a:p>
            <a:r>
              <a:rPr lang="en-US" sz="2800" b="1" dirty="0">
                <a:solidFill>
                  <a:srgbClr val="3366FF"/>
                </a:solidFill>
                <a:latin typeface="+mj-lt"/>
              </a:rPr>
              <a:t>Introduction….. </a:t>
            </a:r>
          </a:p>
        </p:txBody>
      </p:sp>
      <p:sp>
        <p:nvSpPr>
          <p:cNvPr id="9" name="Slide Number Placeholder 8"/>
          <p:cNvSpPr>
            <a:spLocks noGrp="1"/>
          </p:cNvSpPr>
          <p:nvPr>
            <p:ph type="sldNum" sz="quarter" idx="12"/>
          </p:nvPr>
        </p:nvSpPr>
        <p:spPr/>
        <p:txBody>
          <a:bodyPr/>
          <a:lstStyle/>
          <a:p>
            <a:fld id="{625BAD83-2C4C-4E42-8C1A-0F09C320E5DA}"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152400"/>
            <a:ext cx="2807692" cy="800219"/>
          </a:xfrm>
          <a:prstGeom prst="rect">
            <a:avLst/>
          </a:prstGeom>
          <a:noFill/>
        </p:spPr>
        <p:txBody>
          <a:bodyPr wrap="none" rtlCol="0">
            <a:spAutoFit/>
          </a:bodyPr>
          <a:lstStyle/>
          <a:p>
            <a:r>
              <a:rPr lang="en-IN" sz="2800" b="1" dirty="0">
                <a:solidFill>
                  <a:srgbClr val="3366FF"/>
                </a:solidFill>
                <a:latin typeface="+mj-lt"/>
              </a:rPr>
              <a:t>Literature Review</a:t>
            </a:r>
            <a:endParaRPr lang="en-US" sz="2800" b="1" dirty="0">
              <a:solidFill>
                <a:srgbClr val="3366FF"/>
              </a:solidFill>
              <a:latin typeface="+mj-lt"/>
            </a:endParaRPr>
          </a:p>
          <a:p>
            <a:endParaRPr lang="en-US" dirty="0"/>
          </a:p>
        </p:txBody>
      </p:sp>
      <p:sp>
        <p:nvSpPr>
          <p:cNvPr id="6" name="TextBox 5"/>
          <p:cNvSpPr txBox="1"/>
          <p:nvPr/>
        </p:nvSpPr>
        <p:spPr>
          <a:xfrm>
            <a:off x="685800" y="609600"/>
            <a:ext cx="8839200" cy="5607945"/>
          </a:xfrm>
          <a:prstGeom prst="rect">
            <a:avLst/>
          </a:prstGeom>
          <a:noFill/>
        </p:spPr>
        <p:txBody>
          <a:bodyPr wrap="square" rtlCol="0">
            <a:spAutoFit/>
          </a:bodyPr>
          <a:lstStyle/>
          <a:p>
            <a:pPr lvl="0">
              <a:lnSpc>
                <a:spcPct val="150000"/>
              </a:lnSpc>
            </a:pPr>
            <a:r>
              <a:rPr lang="en-US" b="1" dirty="0">
                <a:solidFill>
                  <a:srgbClr val="0066FF"/>
                </a:solidFill>
                <a:latin typeface="Times New Roman" panose="02020603050405020304" pitchFamily="18" charset="0"/>
                <a:cs typeface="Times New Roman" panose="02020603050405020304" pitchFamily="18" charset="0"/>
              </a:rPr>
              <a:t>1. Ankita Dhar et al</a:t>
            </a:r>
            <a:r>
              <a:rPr lang="en-US" dirty="0">
                <a:latin typeface="Times New Roman" panose="02020603050405020304" pitchFamily="18" charset="0"/>
                <a:cs typeface="Times New Roman" panose="02020603050405020304" pitchFamily="18" charset="0"/>
              </a:rPr>
              <a:t>, Classification of Text Documents Through Distance  </a:t>
            </a:r>
          </a:p>
          <a:p>
            <a:pPr lvl="0">
              <a:lnSpc>
                <a:spcPct val="150000"/>
              </a:lnSpc>
            </a:pPr>
            <a:r>
              <a:rPr lang="en-US" dirty="0">
                <a:latin typeface="Times New Roman" panose="02020603050405020304" pitchFamily="18" charset="0"/>
                <a:cs typeface="Times New Roman" panose="02020603050405020304" pitchFamily="18" charset="0"/>
              </a:rPr>
              <a:t>    Measurement: An Experiment with Multi-Domain Bangla Text Documents, IEEE </a:t>
            </a:r>
          </a:p>
          <a:p>
            <a:pPr lvl="0">
              <a:lnSpc>
                <a:spcPct val="150000"/>
              </a:lnSpc>
            </a:pPr>
            <a:r>
              <a:rPr lang="en-US" dirty="0">
                <a:latin typeface="Times New Roman" panose="02020603050405020304" pitchFamily="18" charset="0"/>
                <a:cs typeface="Times New Roman" panose="02020603050405020304" pitchFamily="18" charset="0"/>
              </a:rPr>
              <a:t>     Access Multidisciplinary, Rapid Review, Open Access  Journal, Vol.11, 2017</a:t>
            </a:r>
          </a:p>
          <a:p>
            <a:pPr>
              <a:lnSpc>
                <a:spcPct val="150000"/>
              </a:lnSpc>
            </a:pPr>
            <a:r>
              <a:rPr lang="en-US" dirty="0">
                <a:solidFill>
                  <a:srgbClr val="0066FF"/>
                </a:solidFill>
                <a:latin typeface="Times New Roman" panose="02020603050405020304" pitchFamily="18" charset="0"/>
                <a:cs typeface="Times New Roman" panose="02020603050405020304" pitchFamily="18" charset="0"/>
              </a:rPr>
              <a:t>    Algorithm used: </a:t>
            </a:r>
            <a:r>
              <a:rPr lang="en-US" dirty="0">
                <a:latin typeface="Times New Roman" panose="02020603050405020304" pitchFamily="18" charset="0"/>
                <a:cs typeface="Times New Roman" panose="02020603050405020304" pitchFamily="18" charset="0"/>
              </a:rPr>
              <a:t>TF-IDF for classification of text into sentences based on results.</a:t>
            </a:r>
          </a:p>
          <a:p>
            <a:pPr>
              <a:lnSpc>
                <a:spcPct val="150000"/>
              </a:lnSpc>
            </a:pPr>
            <a:r>
              <a:rPr lang="en-US" dirty="0">
                <a:solidFill>
                  <a:srgbClr val="0066FF"/>
                </a:solidFill>
                <a:latin typeface="Times New Roman" panose="02020603050405020304" pitchFamily="18" charset="0"/>
                <a:cs typeface="Times New Roman" panose="02020603050405020304" pitchFamily="18" charset="0"/>
              </a:rPr>
              <a:t>    Result: </a:t>
            </a:r>
            <a:r>
              <a:rPr lang="en-US" dirty="0">
                <a:latin typeface="Times New Roman" panose="02020603050405020304" pitchFamily="18" charset="0"/>
                <a:cs typeface="Times New Roman" panose="02020603050405020304" pitchFamily="18" charset="0"/>
              </a:rPr>
              <a:t>Performs better for Bangla Text document classification</a:t>
            </a:r>
          </a:p>
          <a:p>
            <a:pPr>
              <a:lnSpc>
                <a:spcPct val="150000"/>
              </a:lnSpc>
            </a:pPr>
            <a:r>
              <a:rPr lang="en-US" dirty="0">
                <a:solidFill>
                  <a:srgbClr val="0066FF"/>
                </a:solidFill>
                <a:latin typeface="Times New Roman" panose="02020603050405020304" pitchFamily="18" charset="0"/>
                <a:cs typeface="Times New Roman" panose="02020603050405020304" pitchFamily="18" charset="0"/>
              </a:rPr>
              <a:t>    Limitation:</a:t>
            </a:r>
            <a:r>
              <a:rPr lang="en-US" dirty="0">
                <a:latin typeface="Times New Roman" panose="02020603050405020304" pitchFamily="18" charset="0"/>
                <a:cs typeface="Times New Roman" panose="02020603050405020304" pitchFamily="18" charset="0"/>
              </a:rPr>
              <a:t> It is restricted to a specific language.</a:t>
            </a:r>
          </a:p>
          <a:p>
            <a:pPr algn="just"/>
            <a:endParaRPr lang="en-IN" dirty="0"/>
          </a:p>
          <a:p>
            <a:pPr lvl="0" algn="just">
              <a:lnSpc>
                <a:spcPct val="114000"/>
              </a:lnSpc>
              <a:spcAft>
                <a:spcPts val="1000"/>
              </a:spcAft>
            </a:pPr>
            <a:r>
              <a:rPr lang="en-US" b="1"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2. Xian She et al, </a:t>
            </a:r>
            <a:r>
              <a:rPr lang="en-US" dirty="0">
                <a:latin typeface="Times New Roman" panose="02020603050405020304" pitchFamily="18" charset="0"/>
                <a:ea typeface="Calibri" panose="020F0502020204030204" pitchFamily="34" charset="0"/>
                <a:cs typeface="Times New Roman" panose="02020603050405020304" pitchFamily="18" charset="0"/>
              </a:rPr>
              <a:t>Text Classification Research Based on Improved SoftMax Regression, </a:t>
            </a:r>
          </a:p>
          <a:p>
            <a:pPr lvl="0">
              <a:lnSpc>
                <a:spcPct val="150000"/>
              </a:lnSpc>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IEEE Access Multidisciplinary, Rapid Review, Open Access  Journal, </a:t>
            </a:r>
            <a:r>
              <a:rPr lang="en-US" dirty="0">
                <a:latin typeface="Times New Roman" panose="02020603050405020304" pitchFamily="18" charset="0"/>
                <a:ea typeface="Calibri" panose="020F0502020204030204" pitchFamily="34" charset="0"/>
                <a:cs typeface="Times New Roman" panose="02020603050405020304" pitchFamily="18" charset="0"/>
              </a:rPr>
              <a:t>Vol.8,2018</a:t>
            </a:r>
          </a:p>
          <a:p>
            <a:pPr lvl="0" algn="just">
              <a:lnSpc>
                <a:spcPct val="114000"/>
              </a:lnSpc>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Algorithm used:  </a:t>
            </a:r>
            <a:r>
              <a:rPr lang="en-US" dirty="0">
                <a:latin typeface="Times New Roman" panose="02020603050405020304" pitchFamily="18" charset="0"/>
                <a:ea typeface="Calibri" panose="020F0502020204030204" pitchFamily="34" charset="0"/>
                <a:cs typeface="Times New Roman" panose="02020603050405020304" pitchFamily="18" charset="0"/>
              </a:rPr>
              <a:t>Soft max regression algorithm</a:t>
            </a:r>
            <a:endParaRPr lang="en-US" sz="1400" dirty="0">
              <a:latin typeface="Calibri" panose="020F0502020204030204" pitchFamily="34" charset="0"/>
              <a:cs typeface="Times New Roman" panose="02020603050405020304" pitchFamily="18" charset="0"/>
            </a:endParaRPr>
          </a:p>
          <a:p>
            <a:pPr lvl="0" algn="just">
              <a:lnSpc>
                <a:spcPct val="114000"/>
              </a:lnSpc>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Result: </a:t>
            </a:r>
            <a:r>
              <a:rPr lang="en-US" dirty="0">
                <a:latin typeface="Times New Roman" panose="02020603050405020304" pitchFamily="18" charset="0"/>
                <a:ea typeface="Calibri" panose="020F0502020204030204" pitchFamily="34" charset="0"/>
                <a:cs typeface="Times New Roman" panose="02020603050405020304" pitchFamily="18" charset="0"/>
              </a:rPr>
              <a:t>Improves the classification accuracy rate even for non-linear texts</a:t>
            </a:r>
            <a:endParaRPr lang="en-US" sz="1400" dirty="0">
              <a:latin typeface="Calibri" panose="020F0502020204030204" pitchFamily="34" charset="0"/>
              <a:cs typeface="Times New Roman" panose="02020603050405020304" pitchFamily="18" charset="0"/>
            </a:endParaRPr>
          </a:p>
          <a:p>
            <a:pPr>
              <a:lnSpc>
                <a:spcPct val="114000"/>
              </a:lnSpc>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Limitation: </a:t>
            </a:r>
            <a:r>
              <a:rPr lang="en-US" dirty="0">
                <a:latin typeface="Times New Roman" panose="02020603050405020304" pitchFamily="18" charset="0"/>
                <a:ea typeface="Calibri" panose="020F0502020204030204" pitchFamily="34" charset="0"/>
                <a:cs typeface="Times New Roman" panose="02020603050405020304" pitchFamily="18" charset="0"/>
              </a:rPr>
              <a:t>Can’t handle both linear and non-linear text at a time </a:t>
            </a:r>
            <a:endParaRPr lang="en-US" sz="1400" dirty="0">
              <a:latin typeface="Calibri" panose="020F0502020204030204" pitchFamily="34" charset="0"/>
              <a:cs typeface="Times New Roman" panose="02020603050405020304" pitchFamily="18" charset="0"/>
            </a:endParaRPr>
          </a:p>
          <a:p>
            <a:endParaRPr lang="en-US" dirty="0"/>
          </a:p>
          <a:p>
            <a:r>
              <a:rPr lang="en-US" dirty="0"/>
              <a:t>  </a:t>
            </a:r>
          </a:p>
        </p:txBody>
      </p:sp>
      <p:sp>
        <p:nvSpPr>
          <p:cNvPr id="9" name="Slide Number Placeholder 8"/>
          <p:cNvSpPr>
            <a:spLocks noGrp="1"/>
          </p:cNvSpPr>
          <p:nvPr>
            <p:ph type="sldNum" sz="quarter" idx="12"/>
          </p:nvPr>
        </p:nvSpPr>
        <p:spPr/>
        <p:txBody>
          <a:bodyPr/>
          <a:lstStyle/>
          <a:p>
            <a:fld id="{625BAD83-2C4C-4E42-8C1A-0F09C320E5DA}"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145490"/>
            <a:ext cx="3171574" cy="800219"/>
          </a:xfrm>
          <a:prstGeom prst="rect">
            <a:avLst/>
          </a:prstGeom>
          <a:noFill/>
        </p:spPr>
        <p:txBody>
          <a:bodyPr wrap="none" rtlCol="0">
            <a:spAutoFit/>
          </a:bodyPr>
          <a:lstStyle/>
          <a:p>
            <a:r>
              <a:rPr lang="en-IN" sz="2800" b="1" dirty="0">
                <a:solidFill>
                  <a:srgbClr val="3366FF"/>
                </a:solidFill>
                <a:latin typeface="+mj-lt"/>
              </a:rPr>
              <a:t>Literature Review....</a:t>
            </a:r>
            <a:endParaRPr lang="en-US" sz="2800" b="1" dirty="0">
              <a:solidFill>
                <a:srgbClr val="3366FF"/>
              </a:solidFill>
              <a:latin typeface="+mj-lt"/>
            </a:endParaRPr>
          </a:p>
          <a:p>
            <a:endParaRPr lang="en-US" dirty="0"/>
          </a:p>
        </p:txBody>
      </p:sp>
      <p:sp>
        <p:nvSpPr>
          <p:cNvPr id="5" name="TextBox 4"/>
          <p:cNvSpPr txBox="1"/>
          <p:nvPr/>
        </p:nvSpPr>
        <p:spPr>
          <a:xfrm>
            <a:off x="685800" y="637807"/>
            <a:ext cx="8839200" cy="6047809"/>
          </a:xfrm>
          <a:prstGeom prst="rect">
            <a:avLst/>
          </a:prstGeom>
          <a:noFill/>
        </p:spPr>
        <p:txBody>
          <a:bodyPr wrap="square" rtlCol="0">
            <a:spAutoFit/>
          </a:bodyPr>
          <a:lstStyle/>
          <a:p>
            <a:pPr>
              <a:lnSpc>
                <a:spcPct val="150000"/>
              </a:lnSpc>
            </a:pPr>
            <a:r>
              <a:rPr lang="en-IN" b="1" dirty="0">
                <a:solidFill>
                  <a:srgbClr val="3366FF"/>
                </a:solidFill>
              </a:rPr>
              <a:t>3</a:t>
            </a:r>
            <a:r>
              <a:rPr lang="en-US" b="1" dirty="0">
                <a:solidFill>
                  <a:srgbClr val="0066FF"/>
                </a:solidFill>
                <a:latin typeface="Times New Roman" panose="02020603050405020304" pitchFamily="18" charset="0"/>
                <a:cs typeface="Times New Roman" panose="02020603050405020304" pitchFamily="18" charset="0"/>
              </a:rPr>
              <a:t>. W. Wu</a:t>
            </a:r>
            <a:r>
              <a:rPr lang="en-US" dirty="0">
                <a:latin typeface="Times New Roman" panose="02020603050405020304" pitchFamily="18" charset="0"/>
                <a:cs typeface="Times New Roman" panose="02020603050405020304" pitchFamily="18" charset="0"/>
              </a:rPr>
              <a:t>, “Binary Output Layer of Feedforward Neural Networks for Solving  </a:t>
            </a:r>
          </a:p>
          <a:p>
            <a:pPr>
              <a:lnSpc>
                <a:spcPct val="150000"/>
              </a:lnSpc>
            </a:pPr>
            <a:r>
              <a:rPr lang="en-US" dirty="0">
                <a:latin typeface="Times New Roman" panose="02020603050405020304" pitchFamily="18" charset="0"/>
                <a:cs typeface="Times New Roman" panose="02020603050405020304" pitchFamily="18" charset="0"/>
              </a:rPr>
              <a:t>    Multi-Class Classification   Problems”, IEEE Access Multidisciplinary, Rapid Review,</a:t>
            </a:r>
          </a:p>
          <a:p>
            <a:pPr>
              <a:lnSpc>
                <a:spcPct val="150000"/>
              </a:lnSpc>
            </a:pPr>
            <a:r>
              <a:rPr lang="en-US" dirty="0">
                <a:latin typeface="Times New Roman" panose="02020603050405020304" pitchFamily="18" charset="0"/>
                <a:cs typeface="Times New Roman" panose="02020603050405020304" pitchFamily="18" charset="0"/>
              </a:rPr>
              <a:t>    Open Access  Journal, Vol.7, 2019, 5085-5094.</a:t>
            </a:r>
          </a:p>
          <a:p>
            <a:pPr>
              <a:lnSpc>
                <a:spcPct val="150000"/>
              </a:lnSpc>
            </a:pPr>
            <a:r>
              <a:rPr lang="en-US" dirty="0">
                <a:solidFill>
                  <a:srgbClr val="0066FF"/>
                </a:solidFill>
                <a:latin typeface="Times New Roman" panose="02020603050405020304" pitchFamily="18" charset="0"/>
                <a:cs typeface="Times New Roman" panose="02020603050405020304" pitchFamily="18" charset="0"/>
              </a:rPr>
              <a:t>    Algorithm used: </a:t>
            </a:r>
            <a:r>
              <a:rPr lang="en-US" dirty="0">
                <a:latin typeface="Times New Roman" panose="02020603050405020304" pitchFamily="18" charset="0"/>
                <a:cs typeface="Times New Roman" panose="02020603050405020304" pitchFamily="18" charset="0"/>
              </a:rPr>
              <a:t>feedforward neural networks (FNN), Binary approach.</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Result:</a:t>
            </a:r>
            <a:r>
              <a:rPr lang="en-US" dirty="0">
                <a:latin typeface="Times New Roman" panose="02020603050405020304" pitchFamily="18" charset="0"/>
                <a:cs typeface="Times New Roman" panose="02020603050405020304" pitchFamily="18" charset="0"/>
              </a:rPr>
              <a:t> This model works well with classification problems up to 5-class classification.</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Limitation:</a:t>
            </a:r>
            <a:r>
              <a:rPr lang="en-US" dirty="0">
                <a:latin typeface="Times New Roman" panose="02020603050405020304" pitchFamily="18" charset="0"/>
                <a:cs typeface="Times New Roman" panose="02020603050405020304" pitchFamily="18" charset="0"/>
              </a:rPr>
              <a:t> It does not work well with the problems having more than 5 classes</a:t>
            </a:r>
            <a:r>
              <a:rPr lang="en-IN" dirty="0"/>
              <a:t>. </a:t>
            </a:r>
          </a:p>
          <a:p>
            <a:pPr algn="just"/>
            <a:endParaRPr lang="en-IN" dirty="0"/>
          </a:p>
          <a:p>
            <a:pPr algn="just">
              <a:lnSpc>
                <a:spcPct val="150000"/>
              </a:lnSpc>
            </a:pPr>
            <a:r>
              <a:rPr lang="en-IN" b="1" dirty="0">
                <a:solidFill>
                  <a:srgbClr val="3366FF"/>
                </a:solidFill>
              </a:rPr>
              <a:t>4. </a:t>
            </a:r>
            <a:r>
              <a:rPr lang="en-US" b="1" dirty="0">
                <a:solidFill>
                  <a:srgbClr val="0066FF"/>
                </a:solidFill>
                <a:latin typeface="Times New Roman" panose="02020603050405020304" pitchFamily="18" charset="0"/>
                <a:cs typeface="Times New Roman" panose="02020603050405020304" pitchFamily="18" charset="0"/>
              </a:rPr>
              <a:t>Shanshan Yu and Jindian Su</a:t>
            </a:r>
            <a:r>
              <a:rPr lang="en-US" dirty="0">
                <a:latin typeface="Times New Roman" panose="02020603050405020304" pitchFamily="18" charset="0"/>
                <a:cs typeface="Times New Roman" panose="02020603050405020304" pitchFamily="18" charset="0"/>
              </a:rPr>
              <a:t>, “Improving BERT-Based Text Classification</a:t>
            </a:r>
          </a:p>
          <a:p>
            <a:pPr algn="just">
              <a:lnSpc>
                <a:spcPct val="150000"/>
              </a:lnSpc>
            </a:pPr>
            <a:r>
              <a:rPr lang="en-US" dirty="0">
                <a:latin typeface="Times New Roman" panose="02020603050405020304" pitchFamily="18" charset="0"/>
                <a:cs typeface="Times New Roman" panose="02020603050405020304" pitchFamily="18" charset="0"/>
              </a:rPr>
              <a:t>    With Auxiliary Sentence and Domain Knowledge”, IEEE Access Multidisciplinary,</a:t>
            </a:r>
          </a:p>
          <a:p>
            <a:pPr algn="just">
              <a:lnSpc>
                <a:spcPct val="150000"/>
              </a:lnSpc>
            </a:pPr>
            <a:r>
              <a:rPr lang="en-US" dirty="0">
                <a:latin typeface="Times New Roman" panose="02020603050405020304" pitchFamily="18" charset="0"/>
                <a:cs typeface="Times New Roman" panose="02020603050405020304" pitchFamily="18" charset="0"/>
              </a:rPr>
              <a:t>    Rapid Review, Open Access Journal, Vol.7, 2019, 176600-176612.</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Algorithm used: </a:t>
            </a:r>
            <a:r>
              <a:rPr lang="en-US" dirty="0">
                <a:latin typeface="Times New Roman" panose="02020603050405020304" pitchFamily="18" charset="0"/>
                <a:cs typeface="Times New Roman" panose="02020603050405020304" pitchFamily="18" charset="0"/>
              </a:rPr>
              <a:t>BERT, BERT4TC</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Result: </a:t>
            </a:r>
            <a:r>
              <a:rPr lang="en-US" dirty="0">
                <a:latin typeface="Times New Roman" panose="02020603050405020304" pitchFamily="18" charset="0"/>
                <a:cs typeface="Times New Roman" panose="02020603050405020304" pitchFamily="18" charset="0"/>
              </a:rPr>
              <a:t>Accuracy (87% to 99%) based on the dataset.</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Limitation:</a:t>
            </a:r>
            <a:r>
              <a:rPr lang="en-US" dirty="0">
                <a:latin typeface="Times New Roman" panose="02020603050405020304" pitchFamily="18" charset="0"/>
                <a:cs typeface="Times New Roman" panose="02020603050405020304" pitchFamily="18" charset="0"/>
              </a:rPr>
              <a:t> Less accuracy for specific domain datasets. (IMDB)</a:t>
            </a:r>
          </a:p>
          <a:p>
            <a:pPr>
              <a:lnSpc>
                <a:spcPct val="150000"/>
              </a:lnSpc>
            </a:pPr>
            <a:endParaRPr lang="en-US" dirty="0"/>
          </a:p>
          <a:p>
            <a:r>
              <a:rPr lang="en-US" dirty="0"/>
              <a:t> </a:t>
            </a:r>
          </a:p>
        </p:txBody>
      </p:sp>
      <p:sp>
        <p:nvSpPr>
          <p:cNvPr id="9" name="Slide Number Placeholder 8"/>
          <p:cNvSpPr>
            <a:spLocks noGrp="1"/>
          </p:cNvSpPr>
          <p:nvPr>
            <p:ph type="sldNum" sz="quarter" idx="12"/>
          </p:nvPr>
        </p:nvSpPr>
        <p:spPr/>
        <p:txBody>
          <a:bodyPr/>
          <a:lstStyle/>
          <a:p>
            <a:fld id="{625BAD83-2C4C-4E42-8C1A-0F09C320E5DA}"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91039"/>
            <a:ext cx="3171574" cy="523220"/>
          </a:xfrm>
          <a:prstGeom prst="rect">
            <a:avLst/>
          </a:prstGeom>
          <a:noFill/>
        </p:spPr>
        <p:txBody>
          <a:bodyPr wrap="none" rtlCol="0">
            <a:spAutoFit/>
          </a:bodyPr>
          <a:lstStyle/>
          <a:p>
            <a:r>
              <a:rPr lang="en-IN" sz="2800" b="1" dirty="0">
                <a:solidFill>
                  <a:srgbClr val="3366FF"/>
                </a:solidFill>
                <a:latin typeface="+mj-lt"/>
              </a:rPr>
              <a:t>Literature Review....</a:t>
            </a:r>
            <a:endParaRPr lang="en-US" sz="2800" b="1" dirty="0">
              <a:solidFill>
                <a:srgbClr val="3366FF"/>
              </a:solidFill>
              <a:latin typeface="+mj-lt"/>
            </a:endParaRPr>
          </a:p>
        </p:txBody>
      </p:sp>
      <p:sp>
        <p:nvSpPr>
          <p:cNvPr id="8" name="TextBox 7"/>
          <p:cNvSpPr txBox="1"/>
          <p:nvPr/>
        </p:nvSpPr>
        <p:spPr>
          <a:xfrm>
            <a:off x="1447800" y="1066800"/>
            <a:ext cx="2514600" cy="369332"/>
          </a:xfrm>
          <a:prstGeom prst="rect">
            <a:avLst/>
          </a:prstGeom>
          <a:noFill/>
        </p:spPr>
        <p:txBody>
          <a:bodyPr wrap="square" rtlCol="0">
            <a:spAutoFit/>
          </a:bodyPr>
          <a:lstStyle/>
          <a:p>
            <a:endParaRPr lang="en-US" dirty="0"/>
          </a:p>
        </p:txBody>
      </p:sp>
      <p:sp>
        <p:nvSpPr>
          <p:cNvPr id="13" name="TextBox 12"/>
          <p:cNvSpPr txBox="1"/>
          <p:nvPr/>
        </p:nvSpPr>
        <p:spPr>
          <a:xfrm>
            <a:off x="533400" y="614259"/>
            <a:ext cx="8745071" cy="6186309"/>
          </a:xfrm>
          <a:prstGeom prst="rect">
            <a:avLst/>
          </a:prstGeom>
          <a:noFill/>
        </p:spPr>
        <p:txBody>
          <a:bodyPr wrap="square" rtlCol="0">
            <a:spAutoFit/>
          </a:bodyPr>
          <a:lstStyle/>
          <a:p>
            <a:pPr algn="just">
              <a:lnSpc>
                <a:spcPct val="150000"/>
              </a:lnSpc>
            </a:pPr>
            <a:r>
              <a:rPr lang="en-IN" b="1" dirty="0">
                <a:solidFill>
                  <a:srgbClr val="3366FF"/>
                </a:solidFill>
              </a:rPr>
              <a:t>5. </a:t>
            </a:r>
            <a:r>
              <a:rPr lang="en-US" b="1" dirty="0">
                <a:solidFill>
                  <a:srgbClr val="0066FF"/>
                </a:solidFill>
                <a:latin typeface="Times New Roman" panose="02020603050405020304" pitchFamily="18" charset="0"/>
                <a:cs typeface="Times New Roman" panose="02020603050405020304" pitchFamily="18" charset="0"/>
              </a:rPr>
              <a:t>Y. Chen and H. Chen</a:t>
            </a:r>
            <a:r>
              <a:rPr lang="en-US" dirty="0">
                <a:latin typeface="Times New Roman" panose="02020603050405020304" pitchFamily="18" charset="0"/>
                <a:cs typeface="Times New Roman" panose="02020603050405020304" pitchFamily="18" charset="0"/>
              </a:rPr>
              <a:t>, “A Novel Class-Center Vector Model for Text Classification </a:t>
            </a:r>
          </a:p>
          <a:p>
            <a:pPr algn="just">
              <a:lnSpc>
                <a:spcPct val="150000"/>
              </a:lnSpc>
            </a:pPr>
            <a:r>
              <a:rPr lang="en-US" dirty="0">
                <a:latin typeface="Times New Roman" panose="02020603050405020304" pitchFamily="18" charset="0"/>
                <a:cs typeface="Times New Roman" panose="02020603050405020304" pitchFamily="18" charset="0"/>
              </a:rPr>
              <a:t>    Using Dependencies and a Semantic Dictionary ”, IEEE  Access Multidisciplinary, </a:t>
            </a:r>
          </a:p>
          <a:p>
            <a:pPr algn="just">
              <a:lnSpc>
                <a:spcPct val="150000"/>
              </a:lnSpc>
            </a:pPr>
            <a:r>
              <a:rPr lang="en-US" dirty="0">
                <a:latin typeface="Times New Roman" panose="02020603050405020304" pitchFamily="18" charset="0"/>
                <a:cs typeface="Times New Roman" panose="02020603050405020304" pitchFamily="18" charset="0"/>
              </a:rPr>
              <a:t>    Rapid Review, Open Access Journal,2019,24990-25000.</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Algorithm used: </a:t>
            </a:r>
            <a:r>
              <a:rPr lang="en-US" dirty="0">
                <a:latin typeface="Times New Roman" panose="02020603050405020304" pitchFamily="18" charset="0"/>
                <a:cs typeface="Times New Roman" panose="02020603050405020304" pitchFamily="18" charset="0"/>
              </a:rPr>
              <a:t>Class-Center Vector Method, TFIDF</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Result:</a:t>
            </a:r>
            <a:r>
              <a:rPr lang="en-US" dirty="0">
                <a:latin typeface="Times New Roman" panose="02020603050405020304" pitchFamily="18" charset="0"/>
                <a:cs typeface="Times New Roman" panose="02020603050405020304" pitchFamily="18" charset="0"/>
              </a:rPr>
              <a:t> The Classification effect achieves the best, in which the F1 value reaches 90.74%.</a:t>
            </a:r>
          </a:p>
          <a:p>
            <a:pPr algn="just">
              <a:lnSpc>
                <a:spcPct val="150000"/>
              </a:lnSpc>
            </a:pPr>
            <a:r>
              <a:rPr lang="en-US" dirty="0">
                <a:solidFill>
                  <a:srgbClr val="3366FF"/>
                </a:solidFill>
                <a:latin typeface="Times New Roman" panose="02020603050405020304" pitchFamily="18" charset="0"/>
                <a:cs typeface="Times New Roman" panose="02020603050405020304" pitchFamily="18" charset="0"/>
              </a:rPr>
              <a:t>    Limitations:</a:t>
            </a:r>
            <a:r>
              <a:rPr lang="en-US" dirty="0">
                <a:latin typeface="Times New Roman" panose="02020603050405020304" pitchFamily="18" charset="0"/>
                <a:cs typeface="Times New Roman" panose="02020603050405020304" pitchFamily="18" charset="0"/>
              </a:rPr>
              <a:t> The model only performed well up to 6 clustered layers, but did not perform</a:t>
            </a:r>
          </a:p>
          <a:p>
            <a:pPr algn="just">
              <a:lnSpc>
                <a:spcPct val="150000"/>
              </a:lnSpc>
            </a:pPr>
            <a:r>
              <a:rPr lang="en-US" dirty="0">
                <a:latin typeface="Times New Roman" panose="02020603050405020304" pitchFamily="18" charset="0"/>
                <a:cs typeface="Times New Roman" panose="02020603050405020304" pitchFamily="18" charset="0"/>
              </a:rPr>
              <a:t>    well When the layers have been increased more than 6.</a:t>
            </a:r>
            <a:endParaRPr lang="en-IN" dirty="0"/>
          </a:p>
          <a:p>
            <a:pPr algn="just">
              <a:lnSpc>
                <a:spcPct val="150000"/>
              </a:lnSpc>
            </a:pPr>
            <a:r>
              <a:rPr lang="en-IN" b="1" dirty="0">
                <a:solidFill>
                  <a:srgbClr val="3366FF"/>
                </a:solidFill>
              </a:rPr>
              <a:t>6. </a:t>
            </a:r>
            <a:r>
              <a:rPr lang="en-US" b="1" dirty="0">
                <a:solidFill>
                  <a:srgbClr val="0066FF"/>
                </a:solidFill>
                <a:latin typeface="Times New Roman" panose="02020603050405020304" pitchFamily="18" charset="0"/>
                <a:cs typeface="Times New Roman" panose="02020603050405020304" pitchFamily="18" charset="0"/>
              </a:rPr>
              <a:t>K. Xia</a:t>
            </a:r>
            <a:r>
              <a:rPr lang="en-US" dirty="0">
                <a:latin typeface="Times New Roman" panose="02020603050405020304" pitchFamily="18" charset="0"/>
                <a:cs typeface="Times New Roman" panose="02020603050405020304" pitchFamily="18" charset="0"/>
              </a:rPr>
              <a:t>,” Convolutional Neural Network Based Classification of App Reviews”, IEEE</a:t>
            </a:r>
          </a:p>
          <a:p>
            <a:pPr algn="just">
              <a:lnSpc>
                <a:spcPct val="150000"/>
              </a:lnSpc>
            </a:pPr>
            <a:r>
              <a:rPr lang="en-US" dirty="0">
                <a:latin typeface="Times New Roman" panose="02020603050405020304" pitchFamily="18" charset="0"/>
                <a:cs typeface="Times New Roman" panose="02020603050405020304" pitchFamily="18" charset="0"/>
              </a:rPr>
              <a:t>    Access Multidisciplinary, Rapid Review, Open Access Journal,2020, 185619- 185628.</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Algorithm used: </a:t>
            </a:r>
            <a:r>
              <a:rPr lang="en-US" dirty="0">
                <a:latin typeface="Times New Roman" panose="02020603050405020304" pitchFamily="18" charset="0"/>
                <a:cs typeface="Times New Roman" panose="02020603050405020304" pitchFamily="18" charset="0"/>
              </a:rPr>
              <a:t>Encoders, Decoders, Multi-Label Text classification, Hierarchical Text </a:t>
            </a:r>
          </a:p>
          <a:p>
            <a:pPr algn="just">
              <a:lnSpc>
                <a:spcPct val="150000"/>
              </a:lnSpc>
            </a:pPr>
            <a:r>
              <a:rPr lang="en-US" dirty="0">
                <a:latin typeface="Times New Roman" panose="02020603050405020304" pitchFamily="18" charset="0"/>
                <a:cs typeface="Times New Roman" panose="02020603050405020304" pitchFamily="18" charset="0"/>
              </a:rPr>
              <a:t>    Classification). (75.72% to 95.49%)</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Result:</a:t>
            </a:r>
            <a:r>
              <a:rPr lang="en-US" dirty="0">
                <a:latin typeface="Times New Roman" panose="02020603050405020304" pitchFamily="18" charset="0"/>
                <a:cs typeface="Times New Roman" panose="02020603050405020304" pitchFamily="18" charset="0"/>
              </a:rPr>
              <a:t> The proposed approach outperforms the baseline approaches in handling </a:t>
            </a:r>
          </a:p>
          <a:p>
            <a:pPr algn="just">
              <a:lnSpc>
                <a:spcPct val="150000"/>
              </a:lnSpc>
            </a:pPr>
            <a:r>
              <a:rPr lang="en-US" dirty="0">
                <a:latin typeface="Times New Roman" panose="02020603050405020304" pitchFamily="18" charset="0"/>
                <a:cs typeface="Times New Roman" panose="02020603050405020304" pitchFamily="18" charset="0"/>
              </a:rPr>
              <a:t>    the classification of police case texts.</a:t>
            </a:r>
          </a:p>
          <a:p>
            <a:pPr algn="just">
              <a:lnSpc>
                <a:spcPct val="150000"/>
              </a:lnSpc>
            </a:pPr>
            <a:r>
              <a:rPr lang="en-US" dirty="0">
                <a:solidFill>
                  <a:srgbClr val="0066FF"/>
                </a:solidFill>
                <a:latin typeface="Times New Roman" panose="02020603050405020304" pitchFamily="18" charset="0"/>
                <a:cs typeface="Times New Roman" panose="02020603050405020304" pitchFamily="18" charset="0"/>
              </a:rPr>
              <a:t>    Limitations:</a:t>
            </a:r>
            <a:r>
              <a:rPr lang="en-US" dirty="0">
                <a:latin typeface="Times New Roman" panose="02020603050405020304" pitchFamily="18" charset="0"/>
                <a:cs typeface="Times New Roman" panose="02020603050405020304" pitchFamily="18" charset="0"/>
              </a:rPr>
              <a:t> If one previous Prediction gets wrong then entire prediction becomes wrong.</a:t>
            </a:r>
            <a:endParaRPr lang="en-US" dirty="0"/>
          </a:p>
          <a:p>
            <a:endParaRPr lang="en-US" dirty="0"/>
          </a:p>
        </p:txBody>
      </p:sp>
      <p:sp>
        <p:nvSpPr>
          <p:cNvPr id="9" name="Slide Number Placeholder 8"/>
          <p:cNvSpPr>
            <a:spLocks noGrp="1"/>
          </p:cNvSpPr>
          <p:nvPr>
            <p:ph type="sldNum" sz="quarter" idx="12"/>
          </p:nvPr>
        </p:nvSpPr>
        <p:spPr/>
        <p:txBody>
          <a:bodyPr/>
          <a:lstStyle/>
          <a:p>
            <a:fld id="{625BAD83-2C4C-4E42-8C1A-0F09C320E5DA}"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238780"/>
            <a:ext cx="3171574" cy="523220"/>
          </a:xfrm>
          <a:prstGeom prst="rect">
            <a:avLst/>
          </a:prstGeom>
          <a:noFill/>
        </p:spPr>
        <p:txBody>
          <a:bodyPr wrap="none" rtlCol="0">
            <a:spAutoFit/>
          </a:bodyPr>
          <a:lstStyle/>
          <a:p>
            <a:r>
              <a:rPr lang="en-IN" sz="2800" b="1" dirty="0">
                <a:solidFill>
                  <a:srgbClr val="3366FF"/>
                </a:solidFill>
                <a:latin typeface="+mj-lt"/>
              </a:rPr>
              <a:t>Literature Review....</a:t>
            </a:r>
            <a:endParaRPr lang="en-US" sz="2800" b="1" dirty="0">
              <a:solidFill>
                <a:srgbClr val="3366FF"/>
              </a:solidFill>
              <a:latin typeface="+mj-lt"/>
            </a:endParaRPr>
          </a:p>
        </p:txBody>
      </p:sp>
      <p:sp>
        <p:nvSpPr>
          <p:cNvPr id="9" name="TextBox 8"/>
          <p:cNvSpPr txBox="1"/>
          <p:nvPr/>
        </p:nvSpPr>
        <p:spPr>
          <a:xfrm>
            <a:off x="533400" y="762000"/>
            <a:ext cx="8229600" cy="5304016"/>
          </a:xfrm>
          <a:prstGeom prst="rect">
            <a:avLst/>
          </a:prstGeom>
          <a:noFill/>
        </p:spPr>
        <p:txBody>
          <a:bodyPr wrap="square" rtlCol="0">
            <a:spAutoFit/>
          </a:bodyPr>
          <a:lstStyle/>
          <a:p>
            <a:pPr algn="just">
              <a:lnSpc>
                <a:spcPct val="150000"/>
              </a:lnSpc>
            </a:pPr>
            <a:r>
              <a:rPr lang="en-IN" b="1" dirty="0">
                <a:solidFill>
                  <a:srgbClr val="3366FF"/>
                </a:solidFill>
              </a:rPr>
              <a:t>7. </a:t>
            </a:r>
            <a:r>
              <a:rPr lang="en-US" b="1" dirty="0">
                <a:solidFill>
                  <a:srgbClr val="0066FF"/>
                </a:solidFill>
                <a:latin typeface="Times New Roman" panose="02020603050405020304" pitchFamily="18" charset="0"/>
                <a:cs typeface="Times New Roman" panose="02020603050405020304" pitchFamily="18" charset="0"/>
              </a:rPr>
              <a:t>K. A. Qureshi</a:t>
            </a:r>
            <a:r>
              <a:rPr lang="en-US" dirty="0">
                <a:latin typeface="Times New Roman" panose="02020603050405020304" pitchFamily="18" charset="0"/>
                <a:cs typeface="Times New Roman" panose="02020603050405020304" pitchFamily="18" charset="0"/>
              </a:rPr>
              <a:t>,” Un-Compromised Credibility: Social Media Based Multi-Class</a:t>
            </a:r>
          </a:p>
          <a:p>
            <a:pPr algn="just">
              <a:lnSpc>
                <a:spcPct val="150000"/>
              </a:lnSpc>
            </a:pPr>
            <a:r>
              <a:rPr lang="en-US" dirty="0">
                <a:latin typeface="Times New Roman" panose="02020603050405020304" pitchFamily="18" charset="0"/>
                <a:cs typeface="Times New Roman" panose="02020603050405020304" pitchFamily="18" charset="0"/>
              </a:rPr>
              <a:t>    Hate Speech Classification for Text”, IEEE Access Multidisciplinary, Rapid  </a:t>
            </a:r>
          </a:p>
          <a:p>
            <a:pPr algn="just">
              <a:lnSpc>
                <a:spcPct val="150000"/>
              </a:lnSpc>
            </a:pPr>
            <a:r>
              <a:rPr lang="en-US" dirty="0">
                <a:latin typeface="Times New Roman" panose="02020603050405020304" pitchFamily="18" charset="0"/>
                <a:cs typeface="Times New Roman" panose="02020603050405020304" pitchFamily="18" charset="0"/>
              </a:rPr>
              <a:t>    Review, Open Access Journal,2021, 109465- 109477.</a:t>
            </a:r>
          </a:p>
          <a:p>
            <a:pPr algn="just"/>
            <a:r>
              <a:rPr lang="en-US" dirty="0">
                <a:solidFill>
                  <a:srgbClr val="0066FF"/>
                </a:solidFill>
                <a:latin typeface="Times New Roman" panose="02020603050405020304" pitchFamily="18" charset="0"/>
                <a:cs typeface="Times New Roman" panose="02020603050405020304" pitchFamily="18" charset="0"/>
              </a:rPr>
              <a:t>    Algorithm used: </a:t>
            </a:r>
            <a:r>
              <a:rPr lang="en-US" dirty="0">
                <a:latin typeface="Times New Roman" panose="02020603050405020304" pitchFamily="18" charset="0"/>
                <a:cs typeface="Times New Roman" panose="02020603050405020304" pitchFamily="18" charset="0"/>
              </a:rPr>
              <a:t>Support Vector Machine (SVM), Logistic Regression, Multi- Layer</a:t>
            </a:r>
          </a:p>
          <a:p>
            <a:pPr algn="just"/>
            <a:r>
              <a:rPr lang="en-US" dirty="0">
                <a:latin typeface="Times New Roman" panose="02020603050405020304" pitchFamily="18" charset="0"/>
                <a:cs typeface="Times New Roman" panose="02020603050405020304" pitchFamily="18" charset="0"/>
              </a:rPr>
              <a:t>    perceptron.</a:t>
            </a:r>
          </a:p>
          <a:p>
            <a:pPr algn="just"/>
            <a:r>
              <a:rPr lang="en-US" dirty="0">
                <a:solidFill>
                  <a:srgbClr val="0066FF"/>
                </a:solidFill>
                <a:latin typeface="Times New Roman" panose="02020603050405020304" pitchFamily="18" charset="0"/>
                <a:cs typeface="Times New Roman" panose="02020603050405020304" pitchFamily="18" charset="0"/>
              </a:rPr>
              <a:t>    Result:</a:t>
            </a:r>
            <a:r>
              <a:rPr lang="en-US" dirty="0">
                <a:latin typeface="Times New Roman" panose="02020603050405020304" pitchFamily="18" charset="0"/>
                <a:cs typeface="Times New Roman" panose="02020603050405020304" pitchFamily="18" charset="0"/>
              </a:rPr>
              <a:t> The result produced by our final proposed features modal has achieved</a:t>
            </a:r>
          </a:p>
          <a:p>
            <a:pPr algn="just"/>
            <a:r>
              <a:rPr lang="en-US" dirty="0">
                <a:latin typeface="Times New Roman" panose="02020603050405020304" pitchFamily="18" charset="0"/>
                <a:cs typeface="Times New Roman" panose="02020603050405020304" pitchFamily="18" charset="0"/>
              </a:rPr>
              <a:t>    89.0% accuracy.</a:t>
            </a:r>
          </a:p>
          <a:p>
            <a:pPr algn="just"/>
            <a:r>
              <a:rPr lang="en-US" dirty="0">
                <a:solidFill>
                  <a:srgbClr val="0066FF"/>
                </a:solidFill>
                <a:latin typeface="Times New Roman" panose="02020603050405020304" pitchFamily="18" charset="0"/>
                <a:cs typeface="Times New Roman" panose="02020603050405020304" pitchFamily="18" charset="0"/>
              </a:rPr>
              <a:t>    Limitations:</a:t>
            </a:r>
            <a:r>
              <a:rPr lang="en-US" dirty="0">
                <a:latin typeface="Times New Roman" panose="02020603050405020304" pitchFamily="18" charset="0"/>
                <a:cs typeface="Times New Roman" panose="02020603050405020304" pitchFamily="18" charset="0"/>
              </a:rPr>
              <a:t> Misclassification of context-aware hate speeches.</a:t>
            </a:r>
          </a:p>
          <a:p>
            <a:pPr algn="just"/>
            <a:endParaRPr lang="en-US" dirty="0">
              <a:latin typeface="Times New Roman" panose="02020603050405020304" pitchFamily="18" charset="0"/>
              <a:cs typeface="Times New Roman" panose="02020603050405020304" pitchFamily="18" charset="0"/>
            </a:endParaRPr>
          </a:p>
          <a:p>
            <a:pPr lvl="0" algn="just">
              <a:spcAft>
                <a:spcPts val="1000"/>
              </a:spcAft>
            </a:pPr>
            <a:r>
              <a:rPr lang="en-IN" b="1" dirty="0">
                <a:solidFill>
                  <a:srgbClr val="3366FF"/>
                </a:solidFill>
                <a:latin typeface="Times New Roman" panose="02020603050405020304" pitchFamily="18" charset="0"/>
                <a:ea typeface="Calibri" panose="020F0502020204030204" pitchFamily="34" charset="0"/>
                <a:cs typeface="Times New Roman" panose="02020603050405020304" pitchFamily="18" charset="0"/>
              </a:rPr>
              <a:t>8. </a:t>
            </a:r>
            <a:r>
              <a:rPr lang="en-US" b="1"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Xian She et al, </a:t>
            </a:r>
            <a:r>
              <a:rPr lang="en-US" dirty="0">
                <a:latin typeface="Times New Roman" panose="02020603050405020304" pitchFamily="18" charset="0"/>
                <a:ea typeface="Calibri" panose="020F0502020204030204" pitchFamily="34" charset="0"/>
                <a:cs typeface="Times New Roman" panose="02020603050405020304" pitchFamily="18" charset="0"/>
              </a:rPr>
              <a:t>Text Classification Research Based on Improved SoftMax</a:t>
            </a:r>
          </a:p>
          <a:p>
            <a:pPr lvl="0" algn="just">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Regression Algorithm, </a:t>
            </a:r>
            <a:r>
              <a:rPr lang="en-US" dirty="0">
                <a:latin typeface="Times New Roman" panose="02020603050405020304" pitchFamily="18" charset="0"/>
                <a:cs typeface="Times New Roman" panose="02020603050405020304" pitchFamily="18" charset="0"/>
              </a:rPr>
              <a:t>IEEE Access Multidisciplinary, Rapid  Review, Open Access</a:t>
            </a:r>
          </a:p>
          <a:p>
            <a:pPr lvl="0" algn="just">
              <a:spcAft>
                <a:spcPts val="1000"/>
              </a:spcAft>
            </a:pPr>
            <a:r>
              <a:rPr lang="en-US" dirty="0">
                <a:latin typeface="Times New Roman" panose="02020603050405020304" pitchFamily="18" charset="0"/>
                <a:cs typeface="Times New Roman" panose="02020603050405020304" pitchFamily="18" charset="0"/>
              </a:rPr>
              <a:t>    Journal,2021 </a:t>
            </a:r>
            <a:r>
              <a:rPr lang="en-US" dirty="0">
                <a:latin typeface="Times New Roman" panose="02020603050405020304" pitchFamily="18" charset="0"/>
                <a:ea typeface="Calibri" panose="020F0502020204030204" pitchFamily="34" charset="0"/>
                <a:cs typeface="Times New Roman" panose="02020603050405020304" pitchFamily="18" charset="0"/>
              </a:rPr>
              <a:t>Vol.8,2018</a:t>
            </a:r>
            <a:endParaRPr lang="en-US" sz="1400" dirty="0">
              <a:latin typeface="Calibri" panose="020F0502020204030204" pitchFamily="34" charset="0"/>
              <a:cs typeface="Times New Roman" panose="02020603050405020304" pitchFamily="18" charset="0"/>
            </a:endParaRPr>
          </a:p>
          <a:p>
            <a:pPr lvl="0" algn="just">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Algorithm used:  </a:t>
            </a:r>
            <a:r>
              <a:rPr lang="en-US" dirty="0">
                <a:latin typeface="Times New Roman" panose="02020603050405020304" pitchFamily="18" charset="0"/>
                <a:ea typeface="Calibri" panose="020F0502020204030204" pitchFamily="34" charset="0"/>
                <a:cs typeface="Times New Roman" panose="02020603050405020304" pitchFamily="18" charset="0"/>
              </a:rPr>
              <a:t>Soft max regression algorithm</a:t>
            </a:r>
            <a:endParaRPr lang="en-US" sz="1400" dirty="0">
              <a:latin typeface="Calibri" panose="020F0502020204030204" pitchFamily="34" charset="0"/>
              <a:cs typeface="Times New Roman" panose="02020603050405020304" pitchFamily="18" charset="0"/>
            </a:endParaRPr>
          </a:p>
          <a:p>
            <a:pPr lvl="0" algn="just">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Result: </a:t>
            </a:r>
            <a:r>
              <a:rPr lang="en-US" dirty="0">
                <a:latin typeface="Times New Roman" panose="02020603050405020304" pitchFamily="18" charset="0"/>
                <a:ea typeface="Calibri" panose="020F0502020204030204" pitchFamily="34" charset="0"/>
                <a:cs typeface="Times New Roman" panose="02020603050405020304" pitchFamily="18" charset="0"/>
              </a:rPr>
              <a:t>Improves the classification accuracy rate even for non-linear texts</a:t>
            </a:r>
            <a:endParaRPr lang="en-US" sz="1400" dirty="0">
              <a:latin typeface="Calibri" panose="020F0502020204030204" pitchFamily="34" charset="0"/>
              <a:cs typeface="Times New Roman" panose="02020603050405020304" pitchFamily="18" charset="0"/>
            </a:endParaRPr>
          </a:p>
          <a:p>
            <a:pPr>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Limitation: </a:t>
            </a:r>
            <a:r>
              <a:rPr lang="en-US" dirty="0">
                <a:latin typeface="Times New Roman" panose="02020603050405020304" pitchFamily="18" charset="0"/>
                <a:ea typeface="Calibri" panose="020F0502020204030204" pitchFamily="34" charset="0"/>
                <a:cs typeface="Times New Roman" panose="02020603050405020304" pitchFamily="18" charset="0"/>
              </a:rPr>
              <a:t>Can’t handle both linear and non-linear text at a time </a:t>
            </a:r>
            <a:endParaRPr lang="en-US" dirty="0"/>
          </a:p>
        </p:txBody>
      </p:sp>
      <p:sp>
        <p:nvSpPr>
          <p:cNvPr id="8" name="Slide Number Placeholder 7"/>
          <p:cNvSpPr>
            <a:spLocks noGrp="1"/>
          </p:cNvSpPr>
          <p:nvPr>
            <p:ph type="sldNum" sz="quarter" idx="12"/>
          </p:nvPr>
        </p:nvSpPr>
        <p:spPr/>
        <p:txBody>
          <a:bodyPr/>
          <a:lstStyle/>
          <a:p>
            <a:fld id="{625BAD83-2C4C-4E42-8C1A-0F09C320E5DA}"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76836" y="901471"/>
            <a:ext cx="8001000" cy="3206006"/>
          </a:xfrm>
          <a:prstGeom prst="rect">
            <a:avLst/>
          </a:prstGeom>
          <a:noFill/>
        </p:spPr>
        <p:txBody>
          <a:bodyPr wrap="square" rtlCol="0">
            <a:spAutoFit/>
          </a:bodyPr>
          <a:lstStyle/>
          <a:p>
            <a:pPr lvl="0" algn="just">
              <a:spcAft>
                <a:spcPts val="1000"/>
              </a:spcAft>
            </a:pPr>
            <a:r>
              <a:rPr lang="en-IN" b="1" dirty="0">
                <a:solidFill>
                  <a:srgbClr val="3366FF"/>
                </a:solidFill>
              </a:rPr>
              <a:t>9. </a:t>
            </a:r>
            <a:r>
              <a:rPr lang="en-US" b="1"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Khan Md Hasib et al</a:t>
            </a:r>
            <a:r>
              <a:rPr lang="en-US" dirty="0">
                <a:latin typeface="Times New Roman" panose="02020603050405020304" pitchFamily="18" charset="0"/>
                <a:ea typeface="Calibri" panose="020F0502020204030204" pitchFamily="34" charset="0"/>
                <a:cs typeface="Times New Roman" panose="02020603050405020304" pitchFamily="18" charset="0"/>
              </a:rPr>
              <a:t>, MCNN-LSTM: Combining CNN and LSTM to  Classify</a:t>
            </a:r>
          </a:p>
          <a:p>
            <a:pPr lvl="0" algn="just">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Multi-Class Text in    Imbalanced News Data, vol.11,2023</a:t>
            </a:r>
            <a:endParaRPr lang="en-US" sz="1400" dirty="0">
              <a:latin typeface="Times New Roman" panose="02020603050405020304" pitchFamily="18" charset="0"/>
              <a:cs typeface="Times New Roman" panose="02020603050405020304" pitchFamily="18" charset="0"/>
            </a:endParaRPr>
          </a:p>
          <a:p>
            <a:pPr lvl="0" algn="just">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Algorithm used: </a:t>
            </a:r>
            <a:r>
              <a:rPr lang="en-US" dirty="0">
                <a:latin typeface="Times New Roman" panose="02020603050405020304" pitchFamily="18" charset="0"/>
                <a:ea typeface="Calibri" panose="020F0502020204030204" pitchFamily="34" charset="0"/>
                <a:cs typeface="Times New Roman" panose="02020603050405020304" pitchFamily="18" charset="0"/>
              </a:rPr>
              <a:t>MCNN-LSTM</a:t>
            </a:r>
            <a:endParaRPr lang="en-US" sz="1400" dirty="0">
              <a:latin typeface="Times New Roman" panose="02020603050405020304" pitchFamily="18" charset="0"/>
              <a:cs typeface="Times New Roman" panose="02020603050405020304" pitchFamily="18" charset="0"/>
            </a:endParaRPr>
          </a:p>
          <a:p>
            <a:pPr lvl="0" algn="just">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Result:</a:t>
            </a:r>
            <a:r>
              <a:rPr lang="en-US" dirty="0">
                <a:latin typeface="Times New Roman" panose="02020603050405020304" pitchFamily="18" charset="0"/>
                <a:ea typeface="Calibri" panose="020F0502020204030204" pitchFamily="34" charset="0"/>
                <a:cs typeface="Times New Roman" panose="02020603050405020304" pitchFamily="18" charset="0"/>
              </a:rPr>
              <a:t> It can learn phrase-level features and characteristics to learn long-term</a:t>
            </a:r>
          </a:p>
          <a:p>
            <a:pPr lvl="0" algn="just">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dependencies </a:t>
            </a:r>
            <a:endParaRPr lang="en-US" sz="1400" dirty="0">
              <a:latin typeface="Times New Roman" panose="02020603050405020304" pitchFamily="18" charset="0"/>
              <a:cs typeface="Times New Roman" panose="02020603050405020304" pitchFamily="18" charset="0"/>
            </a:endParaRPr>
          </a:p>
          <a:p>
            <a:pPr algn="just">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Limitation: </a:t>
            </a:r>
            <a:r>
              <a:rPr lang="en-US" dirty="0">
                <a:latin typeface="Times New Roman" panose="02020603050405020304" pitchFamily="18" charset="0"/>
                <a:ea typeface="Calibri" panose="020F0502020204030204" pitchFamily="34" charset="0"/>
                <a:cs typeface="Times New Roman" panose="02020603050405020304" pitchFamily="18" charset="0"/>
              </a:rPr>
              <a:t>This model is not compatible with deep neural networks (such as</a:t>
            </a:r>
          </a:p>
          <a:p>
            <a:pPr algn="just">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principal component analysis, or PCA), and other variants of neural network </a:t>
            </a:r>
          </a:p>
          <a:p>
            <a:pPr algn="just">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models.</a:t>
            </a:r>
            <a:endParaRPr lang="en-US" sz="14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57200" y="228600"/>
            <a:ext cx="3171574" cy="523220"/>
          </a:xfrm>
          <a:prstGeom prst="rect">
            <a:avLst/>
          </a:prstGeom>
          <a:noFill/>
        </p:spPr>
        <p:txBody>
          <a:bodyPr wrap="none" rtlCol="0">
            <a:spAutoFit/>
          </a:bodyPr>
          <a:lstStyle/>
          <a:p>
            <a:r>
              <a:rPr lang="en-IN" sz="2800" b="1" dirty="0">
                <a:solidFill>
                  <a:srgbClr val="3366FF"/>
                </a:solidFill>
                <a:latin typeface="+mj-lt"/>
              </a:rPr>
              <a:t>Literature Review....</a:t>
            </a:r>
            <a:endParaRPr lang="en-US" sz="2800" b="1" dirty="0">
              <a:solidFill>
                <a:srgbClr val="3366FF"/>
              </a:solidFill>
              <a:latin typeface="+mj-lt"/>
            </a:endParaRPr>
          </a:p>
        </p:txBody>
      </p:sp>
      <p:sp>
        <p:nvSpPr>
          <p:cNvPr id="10" name="Slide Number Placeholder 9"/>
          <p:cNvSpPr>
            <a:spLocks noGrp="1"/>
          </p:cNvSpPr>
          <p:nvPr>
            <p:ph type="sldNum" sz="quarter" idx="12"/>
          </p:nvPr>
        </p:nvSpPr>
        <p:spPr/>
        <p:txBody>
          <a:bodyPr/>
          <a:lstStyle/>
          <a:p>
            <a:fld id="{625BAD83-2C4C-4E42-8C1A-0F09C320E5DA}" type="slidenum">
              <a:rPr lang="en-US" smtClean="0"/>
              <a:pPr/>
              <a:t>7</a:t>
            </a:fld>
            <a:endParaRPr lang="en-US" dirty="0"/>
          </a:p>
        </p:txBody>
      </p:sp>
      <p:sp>
        <p:nvSpPr>
          <p:cNvPr id="3" name="Rectangle 2">
            <a:extLst>
              <a:ext uri="{FF2B5EF4-FFF2-40B4-BE49-F238E27FC236}">
                <a16:creationId xmlns:a16="http://schemas.microsoft.com/office/drawing/2014/main" id="{86F8FBDE-1172-4680-8461-E4C16DC24F53}"/>
              </a:ext>
            </a:extLst>
          </p:cNvPr>
          <p:cNvSpPr/>
          <p:nvPr/>
        </p:nvSpPr>
        <p:spPr>
          <a:xfrm>
            <a:off x="533400" y="4107477"/>
            <a:ext cx="7826188" cy="2395528"/>
          </a:xfrm>
          <a:prstGeom prst="rect">
            <a:avLst/>
          </a:prstGeom>
        </p:spPr>
        <p:txBody>
          <a:bodyPr wrap="square">
            <a:spAutoFit/>
          </a:bodyPr>
          <a:lstStyle/>
          <a:p>
            <a:pPr algn="just">
              <a:spcAft>
                <a:spcPts val="1000"/>
              </a:spcAft>
            </a:pPr>
            <a:r>
              <a:rPr lang="en-IN" b="1" dirty="0">
                <a:solidFill>
                  <a:srgbClr val="3366FF"/>
                </a:solidFill>
              </a:rPr>
              <a:t>10. </a:t>
            </a:r>
            <a:r>
              <a:rPr lang="en-US" b="1" dirty="0" err="1">
                <a:solidFill>
                  <a:srgbClr val="0066FF"/>
                </a:solidFill>
                <a:latin typeface="Times New Roman" panose="02020603050405020304" pitchFamily="18" charset="0"/>
                <a:ea typeface="Calibri" panose="020F0502020204030204" pitchFamily="34" charset="0"/>
                <a:cs typeface="Times New Roman" panose="02020603050405020304" pitchFamily="18" charset="0"/>
              </a:rPr>
              <a:t>Shrehar</a:t>
            </a:r>
            <a:r>
              <a:rPr lang="en-US" b="1"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Joshi et al</a:t>
            </a:r>
            <a:r>
              <a:rPr lang="en-US" dirty="0">
                <a:latin typeface="Times New Roman" panose="02020603050405020304" pitchFamily="18" charset="0"/>
                <a:ea typeface="Calibri" panose="020F0502020204030204" pitchFamily="34" charset="0"/>
                <a:cs typeface="Times New Roman" panose="02020603050405020304" pitchFamily="18" charset="0"/>
              </a:rPr>
              <a:t>, Multiclass Text Classification Using Machine Learning</a:t>
            </a:r>
          </a:p>
          <a:p>
            <a:pPr lvl="0" algn="just">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Models for Online Drug Reviews, Vol. 3,2021</a:t>
            </a:r>
          </a:p>
          <a:p>
            <a:pPr lvl="0" algn="just">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Algorithm used: </a:t>
            </a:r>
            <a:r>
              <a:rPr lang="en-US" dirty="0">
                <a:latin typeface="Times New Roman" panose="02020603050405020304" pitchFamily="18" charset="0"/>
                <a:ea typeface="Calibri" panose="020F0502020204030204" pitchFamily="34" charset="0"/>
                <a:cs typeface="Times New Roman" panose="02020603050405020304" pitchFamily="18" charset="0"/>
              </a:rPr>
              <a:t>Linear SVC</a:t>
            </a:r>
            <a:endParaRPr lang="en-US" sz="1400" dirty="0">
              <a:latin typeface="Times New Roman" panose="02020603050405020304" pitchFamily="18" charset="0"/>
              <a:cs typeface="Times New Roman" panose="02020603050405020304" pitchFamily="18" charset="0"/>
            </a:endParaRPr>
          </a:p>
          <a:p>
            <a:pPr lvl="0" algn="just">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Result: </a:t>
            </a:r>
            <a:r>
              <a:rPr lang="en-US" dirty="0">
                <a:latin typeface="Times New Roman" panose="02020603050405020304" pitchFamily="18" charset="0"/>
                <a:ea typeface="Calibri" panose="020F0502020204030204" pitchFamily="34" charset="0"/>
                <a:cs typeface="Times New Roman" panose="02020603050405020304" pitchFamily="18" charset="0"/>
              </a:rPr>
              <a:t>It is found to be more effective in predicting medical conditions</a:t>
            </a:r>
          </a:p>
          <a:p>
            <a:pPr lvl="0" algn="just">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      regarding the accuracy</a:t>
            </a:r>
            <a:endParaRPr lang="en-US" sz="1400" dirty="0">
              <a:latin typeface="Times New Roman" panose="02020603050405020304" pitchFamily="18" charset="0"/>
              <a:cs typeface="Times New Roman" panose="02020603050405020304" pitchFamily="18" charset="0"/>
            </a:endParaRPr>
          </a:p>
          <a:p>
            <a:pPr lvl="0" algn="just">
              <a:spcAft>
                <a:spcPts val="1000"/>
              </a:spcAft>
            </a:pPr>
            <a:r>
              <a:rPr lang="en-US" dirty="0">
                <a:solidFill>
                  <a:srgbClr val="0066FF"/>
                </a:solidFill>
                <a:latin typeface="Times New Roman" panose="02020603050405020304" pitchFamily="18" charset="0"/>
                <a:ea typeface="Calibri" panose="020F0502020204030204" pitchFamily="34" charset="0"/>
                <a:cs typeface="Times New Roman" panose="02020603050405020304" pitchFamily="18" charset="0"/>
              </a:rPr>
              <a:t>      Limitation:</a:t>
            </a:r>
            <a:r>
              <a:rPr lang="en-US" dirty="0">
                <a:latin typeface="Times New Roman" panose="02020603050405020304" pitchFamily="18" charset="0"/>
                <a:ea typeface="Calibri" panose="020F0502020204030204" pitchFamily="34" charset="0"/>
                <a:cs typeface="Times New Roman" panose="02020603050405020304" pitchFamily="18" charset="0"/>
              </a:rPr>
              <a:t> It is restricted to the medical domain</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304800"/>
            <a:ext cx="2352695" cy="800219"/>
          </a:xfrm>
          <a:prstGeom prst="rect">
            <a:avLst/>
          </a:prstGeom>
          <a:noFill/>
        </p:spPr>
        <p:txBody>
          <a:bodyPr wrap="none" rtlCol="0">
            <a:spAutoFit/>
          </a:bodyPr>
          <a:lstStyle/>
          <a:p>
            <a:r>
              <a:rPr lang="en-IN" sz="2800" b="1" dirty="0">
                <a:solidFill>
                  <a:srgbClr val="3366FF"/>
                </a:solidFill>
                <a:latin typeface="+mj-lt"/>
              </a:rPr>
              <a:t>Research Gaps</a:t>
            </a:r>
            <a:endParaRPr lang="en-US" sz="2800" dirty="0">
              <a:solidFill>
                <a:srgbClr val="3366FF"/>
              </a:solidFill>
              <a:latin typeface="+mj-lt"/>
            </a:endParaRPr>
          </a:p>
          <a:p>
            <a:endParaRPr lang="en-US" dirty="0">
              <a:solidFill>
                <a:srgbClr val="3366FF"/>
              </a:solidFill>
            </a:endParaRPr>
          </a:p>
        </p:txBody>
      </p:sp>
      <p:sp>
        <p:nvSpPr>
          <p:cNvPr id="5" name="TextBox 4"/>
          <p:cNvSpPr txBox="1"/>
          <p:nvPr/>
        </p:nvSpPr>
        <p:spPr>
          <a:xfrm>
            <a:off x="727364" y="917912"/>
            <a:ext cx="7848600" cy="5940088"/>
          </a:xfrm>
          <a:prstGeom prst="rect">
            <a:avLst/>
          </a:prstGeom>
          <a:noFill/>
        </p:spPr>
        <p:txBody>
          <a:bodyPr wrap="square" rtlCol="0">
            <a:spAutoFit/>
          </a:bodyPr>
          <a:lstStyle/>
          <a:p>
            <a:pPr marL="285750" indent="-285750" algn="just">
              <a:buFont typeface="Arial" panose="020B0604020202020204" pitchFamily="34" charset="0"/>
              <a:buChar char="•"/>
            </a:pPr>
            <a:r>
              <a:rPr lang="en-US" sz="2000" b="1" dirty="0">
                <a:solidFill>
                  <a:srgbClr val="0066FF"/>
                </a:solidFill>
                <a:cs typeface="Times New Roman" panose="02020603050405020304" pitchFamily="18" charset="0"/>
              </a:rPr>
              <a:t>Handling Imbalanced Data:</a:t>
            </a:r>
            <a:r>
              <a:rPr lang="en-US" sz="2000" dirty="0">
                <a:solidFill>
                  <a:srgbClr val="0066FF"/>
                </a:solidFill>
                <a:cs typeface="Times New Roman" panose="02020603050405020304" pitchFamily="18" charset="0"/>
              </a:rPr>
              <a:t> </a:t>
            </a:r>
            <a:r>
              <a:rPr lang="en-US" sz="2000" dirty="0">
                <a:solidFill>
                  <a:srgbClr val="0D0D0D"/>
                </a:solidFill>
                <a:latin typeface="Times New Roman" panose="02020603050405020304" pitchFamily="18" charset="0"/>
                <a:cs typeface="Times New Roman" panose="02020603050405020304" pitchFamily="18" charset="0"/>
              </a:rPr>
              <a:t>There is a need for research focusing on  techniques to effectively handle imbalanced data to ensure fair and accurate classification across all classes.</a:t>
            </a:r>
          </a:p>
          <a:p>
            <a:pPr algn="just"/>
            <a:endParaRPr lang="en-US" sz="2000" b="1" dirty="0">
              <a:solidFill>
                <a:srgbClr val="0D0D0D"/>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solidFill>
                  <a:srgbClr val="0066FF"/>
                </a:solidFill>
                <a:cs typeface="Times New Roman" panose="02020603050405020304" pitchFamily="18" charset="0"/>
              </a:rPr>
              <a:t>Transfer Learning: </a:t>
            </a:r>
            <a:r>
              <a:rPr lang="en-US" sz="2000" dirty="0">
                <a:solidFill>
                  <a:srgbClr val="0D0D0D"/>
                </a:solidFill>
                <a:latin typeface="Times New Roman" panose="02020603050405020304" pitchFamily="18" charset="0"/>
                <a:cs typeface="Times New Roman" panose="02020603050405020304" pitchFamily="18" charset="0"/>
              </a:rPr>
              <a:t>While transfer learning has shown promise in improving performance in various NLP tasks, its application to multiclass text classification has not been extensively explored. </a:t>
            </a:r>
          </a:p>
          <a:p>
            <a:pPr marL="285750" indent="-285750" algn="just">
              <a:buFont typeface="Arial" panose="020B0604020202020204" pitchFamily="34" charset="0"/>
              <a:buChar char="•"/>
            </a:pPr>
            <a:endParaRPr lang="en-US" sz="2000" b="1" dirty="0">
              <a:solidFill>
                <a:srgbClr val="0D0D0D"/>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solidFill>
                  <a:srgbClr val="0066FF"/>
                </a:solidFill>
                <a:cs typeface="Times New Roman" panose="02020603050405020304" pitchFamily="18" charset="0"/>
              </a:rPr>
              <a:t>Domain Adaptation: </a:t>
            </a:r>
            <a:r>
              <a:rPr lang="en-US" sz="2000" dirty="0">
                <a:solidFill>
                  <a:srgbClr val="0D0D0D"/>
                </a:solidFill>
                <a:latin typeface="Times New Roman" panose="02020603050405020304" pitchFamily="18" charset="0"/>
                <a:cs typeface="Times New Roman" panose="02020603050405020304" pitchFamily="18" charset="0"/>
              </a:rPr>
              <a:t>Text classification models often struggle when applied to domains different from the one they were trained on. Research gaps exist in exploring domain adaptation techniques tailored specifically for multiclass text classification, especially in scenarios where labeled data in the target domain is limited</a:t>
            </a:r>
          </a:p>
          <a:p>
            <a:pPr marL="285750" indent="-285750" algn="just">
              <a:buFont typeface="Arial" panose="020B0604020202020204" pitchFamily="34" charset="0"/>
              <a:buChar char="•"/>
            </a:pPr>
            <a:endParaRPr lang="en-US" sz="2000" b="1" dirty="0">
              <a:solidFill>
                <a:srgbClr val="0D0D0D"/>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b="1" dirty="0">
                <a:solidFill>
                  <a:srgbClr val="0066FF"/>
                </a:solidFill>
                <a:cs typeface="Times New Roman" panose="02020603050405020304" pitchFamily="18" charset="0"/>
              </a:rPr>
              <a:t>Incorporating External Knowledge: </a:t>
            </a:r>
            <a:r>
              <a:rPr lang="en-US" sz="2000" dirty="0">
                <a:solidFill>
                  <a:srgbClr val="0D0D0D"/>
                </a:solidFill>
                <a:latin typeface="Times New Roman" panose="02020603050405020304" pitchFamily="18" charset="0"/>
                <a:cs typeface="Times New Roman" panose="02020603050405020304" pitchFamily="18" charset="0"/>
              </a:rPr>
              <a:t>There is a gap in research focusing on methods to effectively incorporate external knowledge into multiclass text classification models to improve performance and generalization.</a:t>
            </a:r>
            <a:endParaRPr lang="en-IN" sz="2000" dirty="0"/>
          </a:p>
          <a:p>
            <a:endParaRPr lang="en-US" sz="2000" dirty="0"/>
          </a:p>
        </p:txBody>
      </p:sp>
      <p:sp>
        <p:nvSpPr>
          <p:cNvPr id="9" name="Slide Number Placeholder 8"/>
          <p:cNvSpPr>
            <a:spLocks noGrp="1"/>
          </p:cNvSpPr>
          <p:nvPr>
            <p:ph type="sldNum" sz="quarter" idx="12"/>
          </p:nvPr>
        </p:nvSpPr>
        <p:spPr/>
        <p:txBody>
          <a:bodyPr/>
          <a:lstStyle/>
          <a:p>
            <a:fld id="{625BAD83-2C4C-4E42-8C1A-0F09C320E5DA}"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28600"/>
            <a:ext cx="5991833" cy="800219"/>
          </a:xfrm>
          <a:prstGeom prst="rect">
            <a:avLst/>
          </a:prstGeom>
          <a:noFill/>
        </p:spPr>
        <p:txBody>
          <a:bodyPr wrap="none" rtlCol="0">
            <a:spAutoFit/>
          </a:bodyPr>
          <a:lstStyle/>
          <a:p>
            <a:r>
              <a:rPr lang="en-IN" sz="2800" b="1" dirty="0">
                <a:solidFill>
                  <a:srgbClr val="3366FF"/>
                </a:solidFill>
                <a:latin typeface="+mj-lt"/>
              </a:rPr>
              <a:t>Research Problem Definition (Abstract)</a:t>
            </a:r>
            <a:endParaRPr lang="en-US" sz="2800" dirty="0">
              <a:solidFill>
                <a:srgbClr val="3366FF"/>
              </a:solidFill>
              <a:latin typeface="+mj-lt"/>
            </a:endParaRPr>
          </a:p>
          <a:p>
            <a:endParaRPr lang="en-US" dirty="0"/>
          </a:p>
        </p:txBody>
      </p:sp>
      <p:sp>
        <p:nvSpPr>
          <p:cNvPr id="5" name="TextBox 4"/>
          <p:cNvSpPr txBox="1"/>
          <p:nvPr/>
        </p:nvSpPr>
        <p:spPr>
          <a:xfrm>
            <a:off x="533400" y="1143000"/>
            <a:ext cx="7924800" cy="5016758"/>
          </a:xfrm>
          <a:prstGeom prst="rect">
            <a:avLst/>
          </a:prstGeom>
          <a:noFill/>
        </p:spPr>
        <p:txBody>
          <a:bodyPr wrap="square" rtlCol="0">
            <a:spAutoFit/>
          </a:bodyPr>
          <a:lstStyle/>
          <a:p>
            <a:pPr algn="just"/>
            <a:r>
              <a:rPr lang="en-US" sz="2000" dirty="0"/>
              <a:t>	In present days, many industries are incorporating text classification in their ordinary tasks for consistency, scalability, and timeliness it brings in. However, while working with real data there are several obstacles to overcome during conducting the classification modeling. Natural Language Processing (NLP) is the key component in the extraction and analysis of textual data. Multi-Class Text Classification (MCTC) plays a vital role in categorizing textual data into more than two predetermined classes to avoid ambiguity. Most of the issues faced by previous MCTC models are imbalanced datasets, selecting appropriate algorithms, ensuring model generation, and working with high-dimensional data. A model is developed to overcome these challenges by applying Prompt Engineering, NLP pipeline algorithm, and fine-tuning methods along with GPT-3.0 for the existing MCTC model. This model achieved better results with performance metrics of 0.85 F1 score which shows the best accuracy when compared with all other models, including BERT, Bart, and GPT.</a:t>
            </a:r>
          </a:p>
        </p:txBody>
      </p:sp>
      <p:sp>
        <p:nvSpPr>
          <p:cNvPr id="9" name="Slide Number Placeholder 8"/>
          <p:cNvSpPr>
            <a:spLocks noGrp="1"/>
          </p:cNvSpPr>
          <p:nvPr>
            <p:ph type="sldNum" sz="quarter" idx="12"/>
          </p:nvPr>
        </p:nvSpPr>
        <p:spPr/>
        <p:txBody>
          <a:bodyPr/>
          <a:lstStyle/>
          <a:p>
            <a:fld id="{625BAD83-2C4C-4E42-8C1A-0F09C320E5DA}"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B455A3-23C2-42CD-8AF8-A39DA9C86BFF}"/>
              </a:ext>
            </a:extLst>
          </p:cNvPr>
          <p:cNvSpPr>
            <a:spLocks noGrp="1"/>
          </p:cNvSpPr>
          <p:nvPr>
            <p:ph type="sldNum" sz="quarter" idx="12"/>
          </p:nvPr>
        </p:nvSpPr>
        <p:spPr/>
        <p:txBody>
          <a:bodyPr/>
          <a:lstStyle/>
          <a:p>
            <a:fld id="{625BAD83-2C4C-4E42-8C1A-0F09C320E5DA}" type="slidenum">
              <a:rPr lang="en-US" smtClean="0"/>
              <a:pPr/>
              <a:t>10</a:t>
            </a:fld>
            <a:endParaRPr lang="en-US"/>
          </a:p>
        </p:txBody>
      </p:sp>
      <p:sp>
        <p:nvSpPr>
          <p:cNvPr id="6" name="Rectangle 5">
            <a:extLst>
              <a:ext uri="{FF2B5EF4-FFF2-40B4-BE49-F238E27FC236}">
                <a16:creationId xmlns:a16="http://schemas.microsoft.com/office/drawing/2014/main" id="{6CC02DE8-359F-4A07-8108-542D32DA583A}"/>
              </a:ext>
            </a:extLst>
          </p:cNvPr>
          <p:cNvSpPr/>
          <p:nvPr/>
        </p:nvSpPr>
        <p:spPr>
          <a:xfrm>
            <a:off x="2895600" y="6126513"/>
            <a:ext cx="3117199" cy="252249"/>
          </a:xfrm>
          <a:prstGeom prst="rect">
            <a:avLst/>
          </a:prstGeom>
        </p:spPr>
        <p:txBody>
          <a:bodyPr wrap="none">
            <a:spAutoFit/>
          </a:bodyPr>
          <a:lstStyle/>
          <a:p>
            <a:pPr algn="ctr" hangingPunct="0">
              <a:lnSpc>
                <a:spcPts val="1100"/>
              </a:lnSpc>
              <a:spcBef>
                <a:spcPts val="600"/>
              </a:spcBef>
              <a:spcAft>
                <a:spcPts val="1200"/>
              </a:spcAft>
            </a:pPr>
            <a:r>
              <a:rPr lang="en-US" b="1" dirty="0">
                <a:latin typeface="Times New Roman" panose="02020603050405020304" pitchFamily="18" charset="0"/>
                <a:ea typeface="Times New Roman" panose="02020603050405020304" pitchFamily="18" charset="0"/>
              </a:rPr>
              <a:t>Fig:</a:t>
            </a:r>
            <a:r>
              <a:rPr lang="en-US" dirty="0">
                <a:latin typeface="Times New Roman" panose="02020603050405020304" pitchFamily="18" charset="0"/>
                <a:ea typeface="Times New Roman" panose="02020603050405020304" pitchFamily="18" charset="0"/>
              </a:rPr>
              <a:t> The architectural diagram </a:t>
            </a:r>
          </a:p>
        </p:txBody>
      </p:sp>
      <p:sp>
        <p:nvSpPr>
          <p:cNvPr id="14" name="TextBox 13">
            <a:extLst>
              <a:ext uri="{FF2B5EF4-FFF2-40B4-BE49-F238E27FC236}">
                <a16:creationId xmlns:a16="http://schemas.microsoft.com/office/drawing/2014/main" id="{9DAC9380-9EC9-405C-ADE8-B4AFDBA465BF}"/>
              </a:ext>
            </a:extLst>
          </p:cNvPr>
          <p:cNvSpPr txBox="1"/>
          <p:nvPr/>
        </p:nvSpPr>
        <p:spPr>
          <a:xfrm>
            <a:off x="762000" y="396240"/>
            <a:ext cx="8249920" cy="523220"/>
          </a:xfrm>
          <a:prstGeom prst="rect">
            <a:avLst/>
          </a:prstGeom>
          <a:noFill/>
        </p:spPr>
        <p:txBody>
          <a:bodyPr wrap="square" rtlCol="0">
            <a:spAutoFit/>
          </a:bodyPr>
          <a:lstStyle/>
          <a:p>
            <a:r>
              <a:rPr lang="en-US" sz="2800" dirty="0">
                <a:solidFill>
                  <a:srgbClr val="3366FF"/>
                </a:solidFill>
                <a:latin typeface="Times New Roman" panose="02020603050405020304" pitchFamily="18" charset="0"/>
                <a:ea typeface="Times New Roman" panose="02020603050405020304" pitchFamily="18" charset="0"/>
              </a:rPr>
              <a:t>Architectural Diagram</a:t>
            </a:r>
            <a:endParaRPr lang="en-US" sz="2800" b="1" dirty="0">
              <a:solidFill>
                <a:srgbClr val="3366FF"/>
              </a:solidFill>
            </a:endParaRPr>
          </a:p>
        </p:txBody>
      </p:sp>
      <p:pic>
        <p:nvPicPr>
          <p:cNvPr id="16" name="Picture 15">
            <a:extLst>
              <a:ext uri="{FF2B5EF4-FFF2-40B4-BE49-F238E27FC236}">
                <a16:creationId xmlns:a16="http://schemas.microsoft.com/office/drawing/2014/main" id="{DF15B0B5-B7DF-489B-BE51-E8D1EB6B1F21}"/>
              </a:ext>
            </a:extLst>
          </p:cNvPr>
          <p:cNvPicPr>
            <a:picLocks noChangeAspect="1"/>
          </p:cNvPicPr>
          <p:nvPr/>
        </p:nvPicPr>
        <p:blipFill>
          <a:blip r:embed="rId2"/>
          <a:stretch>
            <a:fillRect/>
          </a:stretch>
        </p:blipFill>
        <p:spPr>
          <a:xfrm>
            <a:off x="2667000" y="1118696"/>
            <a:ext cx="4305997" cy="4672504"/>
          </a:xfrm>
          <a:prstGeom prst="rect">
            <a:avLst/>
          </a:prstGeom>
        </p:spPr>
      </p:pic>
    </p:spTree>
    <p:extLst>
      <p:ext uri="{BB962C8B-B14F-4D97-AF65-F5344CB8AC3E}">
        <p14:creationId xmlns:p14="http://schemas.microsoft.com/office/powerpoint/2010/main" val="326435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02CA5A-9FFA-4A8C-826D-B3CA540DC1C4}"/>
              </a:ext>
            </a:extLst>
          </p:cNvPr>
          <p:cNvSpPr txBox="1"/>
          <p:nvPr/>
        </p:nvSpPr>
        <p:spPr>
          <a:xfrm>
            <a:off x="812800" y="396240"/>
            <a:ext cx="8249920" cy="523220"/>
          </a:xfrm>
          <a:prstGeom prst="rect">
            <a:avLst/>
          </a:prstGeom>
          <a:noFill/>
        </p:spPr>
        <p:txBody>
          <a:bodyPr wrap="square" rtlCol="0">
            <a:spAutoFit/>
          </a:bodyPr>
          <a:lstStyle/>
          <a:p>
            <a:r>
              <a:rPr lang="en-US" sz="2800" b="1">
                <a:solidFill>
                  <a:srgbClr val="0066FF"/>
                </a:solidFill>
              </a:rPr>
              <a:t>Methodology for Multiclass text classification:</a:t>
            </a:r>
            <a:endParaRPr lang="en-US" sz="2800" b="1" dirty="0">
              <a:solidFill>
                <a:srgbClr val="0066FF"/>
              </a:solidFill>
            </a:endParaRPr>
          </a:p>
        </p:txBody>
      </p:sp>
      <p:sp>
        <p:nvSpPr>
          <p:cNvPr id="7" name="TextBox 6">
            <a:extLst>
              <a:ext uri="{FF2B5EF4-FFF2-40B4-BE49-F238E27FC236}">
                <a16:creationId xmlns:a16="http://schemas.microsoft.com/office/drawing/2014/main" id="{96A20CB7-53F2-41F0-9D97-097375C361F8}"/>
              </a:ext>
            </a:extLst>
          </p:cNvPr>
          <p:cNvSpPr txBox="1"/>
          <p:nvPr/>
        </p:nvSpPr>
        <p:spPr>
          <a:xfrm>
            <a:off x="812800" y="1107440"/>
            <a:ext cx="8107680" cy="4708981"/>
          </a:xfrm>
          <a:prstGeom prst="rect">
            <a:avLst/>
          </a:prstGeom>
          <a:noFill/>
        </p:spPr>
        <p:txBody>
          <a:bodyPr wrap="square" rtlCol="0">
            <a:spAutoFit/>
          </a:bodyPr>
          <a:lstStyle/>
          <a:p>
            <a:pPr marL="342900" indent="-342900">
              <a:buAutoNum type="arabicPeriod"/>
            </a:pPr>
            <a:r>
              <a:rPr lang="en-US" sz="2000" dirty="0">
                <a:latin typeface="Times New Roman" panose="02020603050405020304" pitchFamily="18" charset="0"/>
                <a:cs typeface="Times New Roman" panose="02020603050405020304" pitchFamily="18" charset="0"/>
              </a:rPr>
              <a:t>Inputs</a:t>
            </a:r>
          </a:p>
          <a:p>
            <a:pPr marL="342900" indent="-342900">
              <a:buAutoNum type="arabicPeriod"/>
            </a:pPr>
            <a:endParaRPr lang="en-US" sz="2000" dirty="0">
              <a:latin typeface="Times New Roman" panose="02020603050405020304" pitchFamily="18" charset="0"/>
              <a:cs typeface="Times New Roman" panose="02020603050405020304" pitchFamily="18" charset="0"/>
            </a:endParaRPr>
          </a:p>
          <a:p>
            <a:pPr marL="342900" indent="-342900">
              <a:buAutoNum type="arabicPeriod"/>
            </a:pPr>
            <a:r>
              <a:rPr lang="en-US" sz="2000" dirty="0">
                <a:latin typeface="Times New Roman" panose="02020603050405020304" pitchFamily="18" charset="0"/>
                <a:cs typeface="Times New Roman" panose="02020603050405020304" pitchFamily="18" charset="0"/>
              </a:rPr>
              <a:t>Input Embeddings</a:t>
            </a:r>
          </a:p>
          <a:p>
            <a:pPr marL="342900" indent="-342900">
              <a:buAutoNum type="arabicPeriod"/>
            </a:pPr>
            <a:endParaRPr lang="en-US" sz="2000" dirty="0">
              <a:latin typeface="Times New Roman" panose="02020603050405020304" pitchFamily="18" charset="0"/>
              <a:cs typeface="Times New Roman" panose="02020603050405020304" pitchFamily="18" charset="0"/>
            </a:endParaRPr>
          </a:p>
          <a:p>
            <a:pPr marL="342900" indent="-342900">
              <a:buAutoNum type="arabicPeriod"/>
            </a:pPr>
            <a:r>
              <a:rPr lang="en-US" sz="2000" dirty="0">
                <a:latin typeface="Times New Roman" panose="02020603050405020304" pitchFamily="18" charset="0"/>
                <a:cs typeface="Times New Roman" panose="02020603050405020304" pitchFamily="18" charset="0"/>
              </a:rPr>
              <a:t>Positional Encoding</a:t>
            </a:r>
          </a:p>
          <a:p>
            <a:pPr marL="342900" indent="-342900">
              <a:buAutoNum type="arabicPeriod"/>
            </a:pPr>
            <a:endParaRPr lang="en-US" sz="2000" dirty="0">
              <a:latin typeface="Times New Roman" panose="02020603050405020304" pitchFamily="18" charset="0"/>
              <a:cs typeface="Times New Roman" panose="02020603050405020304" pitchFamily="18" charset="0"/>
            </a:endParaRPr>
          </a:p>
          <a:p>
            <a:pPr marL="342900" indent="-342900">
              <a:buAutoNum type="arabicPeriod"/>
            </a:pPr>
            <a:r>
              <a:rPr lang="en-US" sz="2000" dirty="0">
                <a:latin typeface="Times New Roman" panose="02020603050405020304" pitchFamily="18" charset="0"/>
                <a:cs typeface="Times New Roman" panose="02020603050405020304" pitchFamily="18" charset="0"/>
              </a:rPr>
              <a:t>Feature extraction</a:t>
            </a:r>
          </a:p>
          <a:p>
            <a:pPr marL="342900" indent="-342900">
              <a:buAutoNum type="arabicPeriod"/>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5.   Implementation of Fine Tuning</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Adapting text</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Structuring Prompt</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Providing context</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Enhancing Effectiveness</a:t>
            </a:r>
          </a:p>
          <a:p>
            <a:pPr marL="742950" lvl="1"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6.   LLM processing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28600"/>
            <a:ext cx="2643352" cy="523220"/>
          </a:xfrm>
          <a:prstGeom prst="rect">
            <a:avLst/>
          </a:prstGeom>
          <a:noFill/>
        </p:spPr>
        <p:txBody>
          <a:bodyPr wrap="none" rtlCol="0">
            <a:spAutoFit/>
          </a:bodyPr>
          <a:lstStyle/>
          <a:p>
            <a:r>
              <a:rPr lang="en-US" sz="2800" dirty="0">
                <a:solidFill>
                  <a:srgbClr val="3366FF"/>
                </a:solidFill>
                <a:latin typeface="+mj-lt"/>
              </a:rPr>
              <a:t>Methodology……</a:t>
            </a:r>
          </a:p>
        </p:txBody>
      </p:sp>
      <p:sp>
        <p:nvSpPr>
          <p:cNvPr id="5" name="TextBox 4"/>
          <p:cNvSpPr txBox="1"/>
          <p:nvPr/>
        </p:nvSpPr>
        <p:spPr>
          <a:xfrm>
            <a:off x="1159328" y="472281"/>
            <a:ext cx="6961414" cy="4031873"/>
          </a:xfrm>
          <a:prstGeom prst="rect">
            <a:avLst/>
          </a:prstGeom>
          <a:noFill/>
        </p:spPr>
        <p:txBody>
          <a:bodyPr wrap="square" rtlCol="0">
            <a:spAutoFit/>
          </a:bodyPr>
          <a:lstStyle/>
          <a:p>
            <a:pPr lvl="0"/>
            <a:endParaRPr lang="en-IN" sz="2000" dirty="0">
              <a:solidFill>
                <a:srgbClr val="3366FF"/>
              </a:solidFill>
            </a:endParaRPr>
          </a:p>
          <a:p>
            <a:pPr lvl="0" algn="just">
              <a:lnSpc>
                <a:spcPct val="150000"/>
              </a:lnSpc>
            </a:pPr>
            <a:r>
              <a:rPr lang="en-IN" sz="2000" dirty="0">
                <a:solidFill>
                  <a:srgbClr val="3366FF"/>
                </a:solidFill>
              </a:rPr>
              <a:t>7. Performance Evaluation of the system:</a:t>
            </a:r>
            <a:endParaRPr lang="en-US" sz="2000" dirty="0">
              <a:solidFill>
                <a:srgbClr val="3366FF"/>
              </a:solidFill>
            </a:endParaRPr>
          </a:p>
          <a:p>
            <a:pPr marL="800100" lvl="1" indent="-342900" algn="just">
              <a:lnSpc>
                <a:spcPct val="150000"/>
              </a:lnSpc>
              <a:buClr>
                <a:srgbClr val="3366FF"/>
              </a:buClr>
              <a:buFont typeface="Arial" panose="020B0604020202020204" pitchFamily="34" charset="0"/>
              <a:buChar char="•"/>
            </a:pPr>
            <a:r>
              <a:rPr lang="en-IN" sz="2000" dirty="0"/>
              <a:t>The</a:t>
            </a:r>
            <a:r>
              <a:rPr lang="en-IN" sz="2000" dirty="0">
                <a:solidFill>
                  <a:srgbClr val="3366FF"/>
                </a:solidFill>
              </a:rPr>
              <a:t> </a:t>
            </a:r>
            <a:r>
              <a:rPr lang="en-IN" sz="2000" dirty="0"/>
              <a:t>F-1 score test has been used to know accuracy and reliability of the system</a:t>
            </a:r>
            <a:endParaRPr lang="en-US" sz="2000" dirty="0"/>
          </a:p>
          <a:p>
            <a:pPr lvl="0" algn="just"/>
            <a:r>
              <a:rPr lang="en-IN" sz="2000" dirty="0">
                <a:solidFill>
                  <a:srgbClr val="3366FF"/>
                </a:solidFill>
              </a:rPr>
              <a:t>8. Deployment:</a:t>
            </a:r>
            <a:endParaRPr lang="en-US" sz="2000" dirty="0">
              <a:solidFill>
                <a:srgbClr val="3366FF"/>
              </a:solidFill>
            </a:endParaRPr>
          </a:p>
          <a:p>
            <a:pPr marL="742950" lvl="1" indent="-285750" algn="just">
              <a:lnSpc>
                <a:spcPct val="150000"/>
              </a:lnSpc>
              <a:buClr>
                <a:srgbClr val="3366FF"/>
              </a:buClr>
              <a:buFont typeface="Arial" panose="020B0604020202020204" pitchFamily="34" charset="0"/>
              <a:buChar char="•"/>
            </a:pPr>
            <a:r>
              <a:rPr lang="en-IN" sz="2000" dirty="0"/>
              <a:t>Develop</a:t>
            </a:r>
            <a:r>
              <a:rPr lang="en-IN" sz="2000" dirty="0">
                <a:solidFill>
                  <a:srgbClr val="3366FF"/>
                </a:solidFill>
              </a:rPr>
              <a:t> </a:t>
            </a:r>
            <a:r>
              <a:rPr lang="en-IN" sz="2000" dirty="0"/>
              <a:t>a user-friendly interface where users can input text and get relevant classes according to the data.</a:t>
            </a:r>
            <a:endParaRPr lang="en-US" sz="2000" dirty="0"/>
          </a:p>
          <a:p>
            <a:pPr marL="742950" lvl="1" indent="-285750" algn="just">
              <a:lnSpc>
                <a:spcPct val="150000"/>
              </a:lnSpc>
              <a:buClr>
                <a:srgbClr val="3366FF"/>
              </a:buClr>
              <a:buFont typeface="Arial" panose="020B0604020202020204" pitchFamily="34" charset="0"/>
              <a:buChar char="•"/>
            </a:pPr>
            <a:r>
              <a:rPr lang="en-IN" sz="2000" dirty="0"/>
              <a:t>Deploy</a:t>
            </a:r>
            <a:r>
              <a:rPr lang="en-IN" sz="2000" dirty="0">
                <a:solidFill>
                  <a:srgbClr val="3366FF"/>
                </a:solidFill>
              </a:rPr>
              <a:t> </a:t>
            </a:r>
            <a:r>
              <a:rPr lang="en-IN" sz="2000" dirty="0"/>
              <a:t>the system as a web application</a:t>
            </a:r>
            <a:endParaRPr lang="en-US" sz="2000" dirty="0">
              <a:solidFill>
                <a:srgbClr val="3366FF"/>
              </a:solidFill>
            </a:endParaRPr>
          </a:p>
          <a:p>
            <a:pPr lvl="1"/>
            <a:endParaRPr lang="en-US" dirty="0"/>
          </a:p>
          <a:p>
            <a:endParaRPr lang="en-US" dirty="0"/>
          </a:p>
        </p:txBody>
      </p:sp>
      <p:sp>
        <p:nvSpPr>
          <p:cNvPr id="6" name="TextBox 5"/>
          <p:cNvSpPr txBox="1"/>
          <p:nvPr/>
        </p:nvSpPr>
        <p:spPr>
          <a:xfrm>
            <a:off x="1163810" y="3706255"/>
            <a:ext cx="6972300" cy="3139321"/>
          </a:xfrm>
          <a:prstGeom prst="rect">
            <a:avLst/>
          </a:prstGeom>
          <a:noFill/>
        </p:spPr>
        <p:txBody>
          <a:bodyPr wrap="square" rtlCol="0">
            <a:spAutoFit/>
          </a:bodyPr>
          <a:lstStyle/>
          <a:p>
            <a:pPr lvl="0">
              <a:lnSpc>
                <a:spcPct val="150000"/>
              </a:lnSpc>
            </a:pPr>
            <a:r>
              <a:rPr lang="en-US" sz="2000" dirty="0">
                <a:solidFill>
                  <a:srgbClr val="3366FF"/>
                </a:solidFill>
              </a:rPr>
              <a:t>9. </a:t>
            </a:r>
            <a:r>
              <a:rPr lang="en-IN" sz="2000" dirty="0">
                <a:solidFill>
                  <a:srgbClr val="3366FF"/>
                </a:solidFill>
              </a:rPr>
              <a:t>Tools and Technologies:</a:t>
            </a:r>
          </a:p>
          <a:p>
            <a:pPr marL="800100" lvl="1" indent="-342900" algn="just">
              <a:lnSpc>
                <a:spcPct val="150000"/>
              </a:lnSpc>
              <a:buFont typeface="Arial" panose="020B0604020202020204" pitchFamily="34" charset="0"/>
              <a:buChar char="•"/>
            </a:pPr>
            <a:r>
              <a:rPr lang="en-IN" sz="2000" dirty="0">
                <a:solidFill>
                  <a:srgbClr val="3366FF"/>
                </a:solidFill>
              </a:rPr>
              <a:t>GPT 4: </a:t>
            </a:r>
            <a:r>
              <a:rPr lang="en-IN" sz="2000" dirty="0"/>
              <a:t>Utilize the GPT-based model to generate classes to the given data. </a:t>
            </a:r>
            <a:endParaRPr lang="en-US" sz="2000" dirty="0"/>
          </a:p>
          <a:p>
            <a:pPr marL="800100" lvl="1" indent="-342900" algn="just">
              <a:lnSpc>
                <a:spcPct val="150000"/>
              </a:lnSpc>
              <a:buFont typeface="Arial" panose="020B0604020202020204" pitchFamily="34" charset="0"/>
              <a:buChar char="•"/>
            </a:pPr>
            <a:r>
              <a:rPr lang="en-IN" sz="2000" dirty="0" err="1">
                <a:solidFill>
                  <a:srgbClr val="3366FF"/>
                </a:solidFill>
              </a:rPr>
              <a:t>Promptify</a:t>
            </a:r>
            <a:r>
              <a:rPr lang="en-IN" sz="2000" dirty="0"/>
              <a:t>: Use </a:t>
            </a:r>
            <a:r>
              <a:rPr lang="en-IN" sz="2000" dirty="0" err="1"/>
              <a:t>Promptify</a:t>
            </a:r>
            <a:r>
              <a:rPr lang="en-IN" sz="2000" dirty="0"/>
              <a:t> to generate prompts for multi class text classification.</a:t>
            </a:r>
            <a:endParaRPr lang="en-US" sz="2000" dirty="0"/>
          </a:p>
          <a:p>
            <a:pPr marL="800100" lvl="1" indent="-342900" algn="just">
              <a:lnSpc>
                <a:spcPct val="150000"/>
              </a:lnSpc>
              <a:buFont typeface="Arial" panose="020B0604020202020204" pitchFamily="34" charset="0"/>
              <a:buChar char="•"/>
            </a:pPr>
            <a:r>
              <a:rPr lang="en-IN" sz="2000" dirty="0">
                <a:solidFill>
                  <a:srgbClr val="3366FF"/>
                </a:solidFill>
              </a:rPr>
              <a:t>Python: </a:t>
            </a:r>
            <a:r>
              <a:rPr lang="en-IN" sz="2000" dirty="0"/>
              <a:t>Main programming language for implementation.</a:t>
            </a:r>
            <a:endParaRPr lang="en-US" sz="2000" dirty="0"/>
          </a:p>
          <a:p>
            <a:endParaRPr lang="en-US" dirty="0"/>
          </a:p>
        </p:txBody>
      </p:sp>
      <p:sp>
        <p:nvSpPr>
          <p:cNvPr id="10" name="Slide Number Placeholder 9"/>
          <p:cNvSpPr>
            <a:spLocks noGrp="1"/>
          </p:cNvSpPr>
          <p:nvPr>
            <p:ph type="sldNum" sz="quarter" idx="12"/>
          </p:nvPr>
        </p:nvSpPr>
        <p:spPr/>
        <p:txBody>
          <a:bodyPr/>
          <a:lstStyle/>
          <a:p>
            <a:fld id="{625BAD83-2C4C-4E42-8C1A-0F09C320E5DA}"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304800"/>
            <a:ext cx="1253420" cy="523220"/>
          </a:xfrm>
          <a:prstGeom prst="rect">
            <a:avLst/>
          </a:prstGeom>
          <a:noFill/>
        </p:spPr>
        <p:txBody>
          <a:bodyPr wrap="none" rtlCol="0">
            <a:spAutoFit/>
          </a:bodyPr>
          <a:lstStyle/>
          <a:p>
            <a:r>
              <a:rPr lang="en-IN" sz="2800" b="1" dirty="0">
                <a:solidFill>
                  <a:srgbClr val="3366FF"/>
                </a:solidFill>
                <a:latin typeface="+mj-lt"/>
              </a:rPr>
              <a:t>Results</a:t>
            </a:r>
            <a:endParaRPr lang="en-US" sz="2800" dirty="0">
              <a:solidFill>
                <a:srgbClr val="3366FF"/>
              </a:solidFill>
              <a:latin typeface="+mj-lt"/>
            </a:endParaRPr>
          </a:p>
        </p:txBody>
      </p:sp>
      <p:sp>
        <p:nvSpPr>
          <p:cNvPr id="12" name="Slide Number Placeholder 11"/>
          <p:cNvSpPr>
            <a:spLocks noGrp="1"/>
          </p:cNvSpPr>
          <p:nvPr>
            <p:ph type="sldNum" sz="quarter" idx="12"/>
          </p:nvPr>
        </p:nvSpPr>
        <p:spPr/>
        <p:txBody>
          <a:bodyPr/>
          <a:lstStyle/>
          <a:p>
            <a:fld id="{625BAD83-2C4C-4E42-8C1A-0F09C320E5DA}" type="slidenum">
              <a:rPr lang="en-US" smtClean="0"/>
              <a:pPr/>
              <a:t>13</a:t>
            </a:fld>
            <a:endParaRPr lang="en-US"/>
          </a:p>
        </p:txBody>
      </p:sp>
      <p:sp>
        <p:nvSpPr>
          <p:cNvPr id="9" name="Rectangle 8">
            <a:extLst>
              <a:ext uri="{FF2B5EF4-FFF2-40B4-BE49-F238E27FC236}">
                <a16:creationId xmlns:a16="http://schemas.microsoft.com/office/drawing/2014/main" id="{FA82E00B-6F0E-4A53-9E21-2FEC885B5347}"/>
              </a:ext>
            </a:extLst>
          </p:cNvPr>
          <p:cNvSpPr/>
          <p:nvPr/>
        </p:nvSpPr>
        <p:spPr>
          <a:xfrm>
            <a:off x="524164" y="924313"/>
            <a:ext cx="8132556" cy="1200329"/>
          </a:xfrm>
          <a:prstGeom prst="rect">
            <a:avLst/>
          </a:prstGeom>
        </p:spPr>
        <p:txBody>
          <a:bodyPr wrap="square">
            <a:spAutoFit/>
          </a:bodyPr>
          <a:lstStyle/>
          <a:p>
            <a:pPr algn="just"/>
            <a:r>
              <a:rPr lang="en-US" b="1" dirty="0">
                <a:solidFill>
                  <a:srgbClr val="0066FF"/>
                </a:solidFill>
              </a:rPr>
              <a:t>Sample Input </a:t>
            </a:r>
            <a:r>
              <a:rPr lang="en-US" dirty="0"/>
              <a:t>= " There is something about you that makes my body come to life. There are no words to express how it makes me feel, but it is a feeling that puts me on top of the world. Having you in my life has opened up great things, but bad  which is why I look forward to every day with you, and feel very bad."</a:t>
            </a:r>
          </a:p>
        </p:txBody>
      </p:sp>
      <p:pic>
        <p:nvPicPr>
          <p:cNvPr id="10" name="Picture 9">
            <a:extLst>
              <a:ext uri="{FF2B5EF4-FFF2-40B4-BE49-F238E27FC236}">
                <a16:creationId xmlns:a16="http://schemas.microsoft.com/office/drawing/2014/main" id="{FC55A21C-9C6E-4188-9305-C9BC27F14CAD}"/>
              </a:ext>
            </a:extLst>
          </p:cNvPr>
          <p:cNvPicPr>
            <a:picLocks noChangeAspect="1"/>
          </p:cNvPicPr>
          <p:nvPr/>
        </p:nvPicPr>
        <p:blipFill>
          <a:blip r:embed="rId2"/>
          <a:stretch>
            <a:fillRect/>
          </a:stretch>
        </p:blipFill>
        <p:spPr>
          <a:xfrm>
            <a:off x="914400" y="2945967"/>
            <a:ext cx="7620000" cy="3673525"/>
          </a:xfrm>
          <a:prstGeom prst="rect">
            <a:avLst/>
          </a:prstGeom>
        </p:spPr>
      </p:pic>
      <p:cxnSp>
        <p:nvCxnSpPr>
          <p:cNvPr id="13" name="Straight Connector 12">
            <a:extLst>
              <a:ext uri="{FF2B5EF4-FFF2-40B4-BE49-F238E27FC236}">
                <a16:creationId xmlns:a16="http://schemas.microsoft.com/office/drawing/2014/main" id="{ED560D95-3B62-4682-B6D5-8A2F5C6522DA}"/>
              </a:ext>
            </a:extLst>
          </p:cNvPr>
          <p:cNvCxnSpPr>
            <a:cxnSpLocks/>
          </p:cNvCxnSpPr>
          <p:nvPr/>
        </p:nvCxnSpPr>
        <p:spPr>
          <a:xfrm>
            <a:off x="6282497" y="3840233"/>
            <a:ext cx="57020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D77CECB-5349-43AE-9B9C-CFA1722393F8}"/>
              </a:ext>
            </a:extLst>
          </p:cNvPr>
          <p:cNvSpPr/>
          <p:nvPr/>
        </p:nvSpPr>
        <p:spPr>
          <a:xfrm>
            <a:off x="4627387" y="3962400"/>
            <a:ext cx="642604" cy="457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E181EDD-D4BA-497D-BA25-E8DD209E94F4}"/>
              </a:ext>
            </a:extLst>
          </p:cNvPr>
          <p:cNvSpPr/>
          <p:nvPr/>
        </p:nvSpPr>
        <p:spPr>
          <a:xfrm>
            <a:off x="5334000" y="4876800"/>
            <a:ext cx="604762" cy="457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0C08FEC-CD7E-487F-B28C-77DA6CB1ECFA}"/>
              </a:ext>
            </a:extLst>
          </p:cNvPr>
          <p:cNvSpPr/>
          <p:nvPr/>
        </p:nvSpPr>
        <p:spPr>
          <a:xfrm>
            <a:off x="5350164" y="5791200"/>
            <a:ext cx="804938" cy="4571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8BDE50A-2445-40CE-95C4-DBE88208B4C4}"/>
              </a:ext>
            </a:extLst>
          </p:cNvPr>
          <p:cNvSpPr txBox="1"/>
          <p:nvPr/>
        </p:nvSpPr>
        <p:spPr>
          <a:xfrm>
            <a:off x="565727" y="2374823"/>
            <a:ext cx="2168504" cy="369332"/>
          </a:xfrm>
          <a:prstGeom prst="rect">
            <a:avLst/>
          </a:prstGeom>
          <a:noFill/>
        </p:spPr>
        <p:txBody>
          <a:bodyPr wrap="square" rtlCol="0">
            <a:spAutoFit/>
          </a:bodyPr>
          <a:lstStyle/>
          <a:p>
            <a:r>
              <a:rPr lang="en-US" b="1" dirty="0">
                <a:solidFill>
                  <a:srgbClr val="0066FF"/>
                </a:solidFill>
              </a:rPr>
              <a:t>Output: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5EF1D73-618E-ABB6-B4C3-D11495FC9295}"/>
              </a:ext>
            </a:extLst>
          </p:cNvPr>
          <p:cNvSpPr>
            <a:spLocks noGrp="1"/>
          </p:cNvSpPr>
          <p:nvPr>
            <p:ph type="sldNum" sz="quarter" idx="12"/>
          </p:nvPr>
        </p:nvSpPr>
        <p:spPr/>
        <p:txBody>
          <a:bodyPr/>
          <a:lstStyle/>
          <a:p>
            <a:fld id="{625BAD83-2C4C-4E42-8C1A-0F09C320E5DA}" type="slidenum">
              <a:rPr lang="en-US" smtClean="0"/>
              <a:pPr/>
              <a:t>14</a:t>
            </a:fld>
            <a:endParaRPr lang="en-US"/>
          </a:p>
        </p:txBody>
      </p:sp>
      <p:sp>
        <p:nvSpPr>
          <p:cNvPr id="5" name="TextBox 4">
            <a:extLst>
              <a:ext uri="{FF2B5EF4-FFF2-40B4-BE49-F238E27FC236}">
                <a16:creationId xmlns:a16="http://schemas.microsoft.com/office/drawing/2014/main" id="{A498D554-7AA5-1D3F-6460-984C3F2B31B9}"/>
              </a:ext>
            </a:extLst>
          </p:cNvPr>
          <p:cNvSpPr txBox="1"/>
          <p:nvPr/>
        </p:nvSpPr>
        <p:spPr>
          <a:xfrm>
            <a:off x="533400" y="304800"/>
            <a:ext cx="1604478" cy="800219"/>
          </a:xfrm>
          <a:prstGeom prst="rect">
            <a:avLst/>
          </a:prstGeom>
          <a:noFill/>
        </p:spPr>
        <p:txBody>
          <a:bodyPr wrap="none" rtlCol="0">
            <a:spAutoFit/>
          </a:bodyPr>
          <a:lstStyle/>
          <a:p>
            <a:r>
              <a:rPr lang="en-IN" sz="2800" b="1" dirty="0">
                <a:solidFill>
                  <a:srgbClr val="3366FF"/>
                </a:solidFill>
                <a:latin typeface="+mj-lt"/>
              </a:rPr>
              <a:t>Results….</a:t>
            </a:r>
            <a:endParaRPr lang="en-US" sz="2800" dirty="0">
              <a:solidFill>
                <a:srgbClr val="3366FF"/>
              </a:solidFill>
              <a:latin typeface="+mj-lt"/>
            </a:endParaRPr>
          </a:p>
          <a:p>
            <a:endParaRPr lang="en-US" dirty="0"/>
          </a:p>
        </p:txBody>
      </p:sp>
      <p:sp>
        <p:nvSpPr>
          <p:cNvPr id="6" name="TextBox 5">
            <a:extLst>
              <a:ext uri="{FF2B5EF4-FFF2-40B4-BE49-F238E27FC236}">
                <a16:creationId xmlns:a16="http://schemas.microsoft.com/office/drawing/2014/main" id="{DEB33463-A0CA-485D-8888-E2E511A76AF8}"/>
              </a:ext>
            </a:extLst>
          </p:cNvPr>
          <p:cNvSpPr txBox="1"/>
          <p:nvPr/>
        </p:nvSpPr>
        <p:spPr>
          <a:xfrm>
            <a:off x="1105443" y="1334305"/>
            <a:ext cx="1474736" cy="369332"/>
          </a:xfrm>
          <a:prstGeom prst="rect">
            <a:avLst/>
          </a:prstGeom>
          <a:noFill/>
        </p:spPr>
        <p:txBody>
          <a:bodyPr wrap="square" rtlCol="0">
            <a:spAutoFit/>
          </a:bodyPr>
          <a:lstStyle/>
          <a:p>
            <a:r>
              <a:rPr lang="en-US" b="1" dirty="0">
                <a:solidFill>
                  <a:srgbClr val="0066FF"/>
                </a:solidFill>
              </a:rPr>
              <a:t>F1-score:</a:t>
            </a:r>
          </a:p>
        </p:txBody>
      </p:sp>
      <p:pic>
        <p:nvPicPr>
          <p:cNvPr id="8" name="Picture 7">
            <a:extLst>
              <a:ext uri="{FF2B5EF4-FFF2-40B4-BE49-F238E27FC236}">
                <a16:creationId xmlns:a16="http://schemas.microsoft.com/office/drawing/2014/main" id="{1316C274-517B-437F-998A-DD0C8FC613C4}"/>
              </a:ext>
            </a:extLst>
          </p:cNvPr>
          <p:cNvPicPr>
            <a:picLocks noChangeAspect="1"/>
          </p:cNvPicPr>
          <p:nvPr/>
        </p:nvPicPr>
        <p:blipFill>
          <a:blip r:embed="rId2"/>
          <a:stretch>
            <a:fillRect/>
          </a:stretch>
        </p:blipFill>
        <p:spPr>
          <a:xfrm>
            <a:off x="1514675" y="1828800"/>
            <a:ext cx="5017743" cy="1645919"/>
          </a:xfrm>
          <a:prstGeom prst="rect">
            <a:avLst/>
          </a:prstGeom>
        </p:spPr>
      </p:pic>
      <p:pic>
        <p:nvPicPr>
          <p:cNvPr id="1026" name="Picture 2" descr="f1 Score Definition | Encord">
            <a:extLst>
              <a:ext uri="{FF2B5EF4-FFF2-40B4-BE49-F238E27FC236}">
                <a16:creationId xmlns:a16="http://schemas.microsoft.com/office/drawing/2014/main" id="{8CCF4D09-EDA5-43D8-8FE4-2C8ED1A43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4675" y="3886200"/>
            <a:ext cx="4557989" cy="1325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00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D168FF-F354-EDA2-ECBE-58DA2802572A}"/>
              </a:ext>
            </a:extLst>
          </p:cNvPr>
          <p:cNvSpPr>
            <a:spLocks noGrp="1"/>
          </p:cNvSpPr>
          <p:nvPr>
            <p:ph type="sldNum" sz="quarter" idx="12"/>
          </p:nvPr>
        </p:nvSpPr>
        <p:spPr/>
        <p:txBody>
          <a:bodyPr/>
          <a:lstStyle/>
          <a:p>
            <a:fld id="{625BAD83-2C4C-4E42-8C1A-0F09C320E5DA}" type="slidenum">
              <a:rPr lang="en-US" smtClean="0"/>
              <a:pPr/>
              <a:t>15</a:t>
            </a:fld>
            <a:endParaRPr lang="en-US"/>
          </a:p>
        </p:txBody>
      </p:sp>
      <p:graphicFrame>
        <p:nvGraphicFramePr>
          <p:cNvPr id="7" name="Table 6">
            <a:extLst>
              <a:ext uri="{FF2B5EF4-FFF2-40B4-BE49-F238E27FC236}">
                <a16:creationId xmlns:a16="http://schemas.microsoft.com/office/drawing/2014/main" id="{1E068C25-839D-7916-3826-683E18D2B02A}"/>
              </a:ext>
            </a:extLst>
          </p:cNvPr>
          <p:cNvGraphicFramePr>
            <a:graphicFrameLocks noGrp="1"/>
          </p:cNvGraphicFramePr>
          <p:nvPr>
            <p:extLst>
              <p:ext uri="{D42A27DB-BD31-4B8C-83A1-F6EECF244321}">
                <p14:modId xmlns:p14="http://schemas.microsoft.com/office/powerpoint/2010/main" val="3951912012"/>
              </p:ext>
            </p:extLst>
          </p:nvPr>
        </p:nvGraphicFramePr>
        <p:xfrm>
          <a:off x="990600" y="990600"/>
          <a:ext cx="7315200" cy="1868170"/>
        </p:xfrm>
        <a:graphic>
          <a:graphicData uri="http://schemas.openxmlformats.org/drawingml/2006/table">
            <a:tbl>
              <a:tblPr firstRow="1" firstCol="1" bandRow="1"/>
              <a:tblGrid>
                <a:gridCol w="1527787">
                  <a:extLst>
                    <a:ext uri="{9D8B030D-6E8A-4147-A177-3AD203B41FA5}">
                      <a16:colId xmlns:a16="http://schemas.microsoft.com/office/drawing/2014/main" val="3824811633"/>
                    </a:ext>
                  </a:extLst>
                </a:gridCol>
                <a:gridCol w="1119674">
                  <a:extLst>
                    <a:ext uri="{9D8B030D-6E8A-4147-A177-3AD203B41FA5}">
                      <a16:colId xmlns:a16="http://schemas.microsoft.com/office/drawing/2014/main" val="358165278"/>
                    </a:ext>
                  </a:extLst>
                </a:gridCol>
                <a:gridCol w="1123730">
                  <a:extLst>
                    <a:ext uri="{9D8B030D-6E8A-4147-A177-3AD203B41FA5}">
                      <a16:colId xmlns:a16="http://schemas.microsoft.com/office/drawing/2014/main" val="1638234665"/>
                    </a:ext>
                  </a:extLst>
                </a:gridCol>
                <a:gridCol w="1187827">
                  <a:extLst>
                    <a:ext uri="{9D8B030D-6E8A-4147-A177-3AD203B41FA5}">
                      <a16:colId xmlns:a16="http://schemas.microsoft.com/office/drawing/2014/main" val="4008692887"/>
                    </a:ext>
                  </a:extLst>
                </a:gridCol>
                <a:gridCol w="1081539">
                  <a:extLst>
                    <a:ext uri="{9D8B030D-6E8A-4147-A177-3AD203B41FA5}">
                      <a16:colId xmlns:a16="http://schemas.microsoft.com/office/drawing/2014/main" val="1344717031"/>
                    </a:ext>
                  </a:extLst>
                </a:gridCol>
                <a:gridCol w="1274643">
                  <a:extLst>
                    <a:ext uri="{9D8B030D-6E8A-4147-A177-3AD203B41FA5}">
                      <a16:colId xmlns:a16="http://schemas.microsoft.com/office/drawing/2014/main" val="518293328"/>
                    </a:ext>
                  </a:extLst>
                </a:gridCol>
              </a:tblGrid>
              <a:tr h="533400">
                <a:tc>
                  <a:txBody>
                    <a:bodyPr/>
                    <a:lstStyle/>
                    <a:p>
                      <a:pPr>
                        <a:lnSpc>
                          <a:spcPct val="115000"/>
                        </a:lnSpc>
                        <a:spcAft>
                          <a:spcPts val="800"/>
                        </a:spcAft>
                      </a:pPr>
                      <a:r>
                        <a:rPr lang="en-US" sz="1200" b="1" kern="0" dirty="0">
                          <a:effectLst/>
                          <a:latin typeface="Times New Roman" panose="02020603050405020304" pitchFamily="18" charset="0"/>
                          <a:ea typeface="Times New Roman" panose="02020603050405020304" pitchFamily="18" charset="0"/>
                          <a:cs typeface="Gautami" panose="020B0502040204020203" pitchFamily="34" charset="0"/>
                        </a:rPr>
                        <a:t>     PARAGRAPHS</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1" kern="0" dirty="0">
                          <a:effectLst/>
                          <a:latin typeface="Times New Roman" panose="02020603050405020304" pitchFamily="18" charset="0"/>
                          <a:ea typeface="Times New Roman" panose="02020603050405020304" pitchFamily="18" charset="0"/>
                          <a:cs typeface="Gautami" panose="020B0502040204020203" pitchFamily="34" charset="0"/>
                        </a:rPr>
                        <a:t>BERT</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1" kern="0" dirty="0">
                          <a:effectLst/>
                          <a:latin typeface="Times New Roman" panose="02020603050405020304" pitchFamily="18" charset="0"/>
                          <a:ea typeface="Times New Roman" panose="02020603050405020304" pitchFamily="18" charset="0"/>
                          <a:cs typeface="Gautami" panose="020B0502040204020203" pitchFamily="34" charset="0"/>
                        </a:rPr>
                        <a:t>BART</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1" kern="0">
                          <a:effectLst/>
                          <a:latin typeface="Times New Roman" panose="02020603050405020304" pitchFamily="18" charset="0"/>
                          <a:ea typeface="Times New Roman" panose="02020603050405020304" pitchFamily="18" charset="0"/>
                          <a:cs typeface="Gautami" panose="020B0502040204020203" pitchFamily="34" charset="0"/>
                        </a:rPr>
                        <a:t>GEMINI</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1" kern="0">
                          <a:effectLst/>
                          <a:latin typeface="Times New Roman" panose="02020603050405020304" pitchFamily="18" charset="0"/>
                          <a:ea typeface="Times New Roman" panose="02020603050405020304" pitchFamily="18" charset="0"/>
                          <a:cs typeface="Gautami" panose="020B0502040204020203" pitchFamily="34" charset="0"/>
                        </a:rPr>
                        <a:t>GPT</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1" kern="0" dirty="0">
                          <a:effectLst/>
                          <a:latin typeface="Times New Roman" panose="02020603050405020304" pitchFamily="18" charset="0"/>
                          <a:ea typeface="Times New Roman" panose="02020603050405020304" pitchFamily="18" charset="0"/>
                          <a:cs typeface="Gautami" panose="020B0502040204020203" pitchFamily="34" charset="0"/>
                        </a:rPr>
                        <a:t>FINE TUNING</a:t>
                      </a:r>
                      <a:endParaRPr lang="en-IN" sz="110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1714704"/>
                  </a:ext>
                </a:extLst>
              </a:tr>
              <a:tr h="330835">
                <a:tc>
                  <a:txBody>
                    <a:bodyPr/>
                    <a:lstStyle/>
                    <a:p>
                      <a:pPr algn="ctr">
                        <a:lnSpc>
                          <a:spcPct val="115000"/>
                        </a:lnSpc>
                        <a:spcAft>
                          <a:spcPts val="800"/>
                        </a:spcAft>
                      </a:pPr>
                      <a:r>
                        <a:rPr lang="en-US" sz="1200" b="1" kern="0">
                          <a:effectLst/>
                          <a:latin typeface="Times New Roman" panose="02020603050405020304" pitchFamily="18" charset="0"/>
                          <a:ea typeface="Times New Roman" panose="02020603050405020304" pitchFamily="18" charset="0"/>
                          <a:cs typeface="Gautami" panose="020B0502040204020203" pitchFamily="34" charset="0"/>
                        </a:rPr>
                        <a:t>P1</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dirty="0">
                          <a:effectLst/>
                          <a:latin typeface="Times New Roman" panose="02020603050405020304" pitchFamily="18" charset="0"/>
                          <a:ea typeface="Times New Roman" panose="02020603050405020304" pitchFamily="18" charset="0"/>
                          <a:cs typeface="Gautami" panose="020B0502040204020203" pitchFamily="34" charset="0"/>
                        </a:rPr>
                        <a:t>0.34</a:t>
                      </a:r>
                      <a:endParaRPr lang="en-IN" sz="11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0.45</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0.67</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0.74</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0.83</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6104592"/>
                  </a:ext>
                </a:extLst>
              </a:tr>
              <a:tr h="336550">
                <a:tc>
                  <a:txBody>
                    <a:bodyPr/>
                    <a:lstStyle/>
                    <a:p>
                      <a:pPr algn="ctr">
                        <a:lnSpc>
                          <a:spcPct val="115000"/>
                        </a:lnSpc>
                        <a:spcAft>
                          <a:spcPts val="800"/>
                        </a:spcAft>
                      </a:pPr>
                      <a:r>
                        <a:rPr lang="en-US" sz="1200" b="1" kern="0">
                          <a:effectLst/>
                          <a:latin typeface="Times New Roman" panose="02020603050405020304" pitchFamily="18" charset="0"/>
                          <a:ea typeface="Times New Roman" panose="02020603050405020304" pitchFamily="18" charset="0"/>
                          <a:cs typeface="Gautami" panose="020B0502040204020203" pitchFamily="34" charset="0"/>
                        </a:rPr>
                        <a:t>P2</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dirty="0">
                          <a:effectLst/>
                          <a:latin typeface="Times New Roman" panose="02020603050405020304" pitchFamily="18" charset="0"/>
                          <a:ea typeface="Times New Roman" panose="02020603050405020304" pitchFamily="18" charset="0"/>
                          <a:cs typeface="Gautami" panose="020B0502040204020203" pitchFamily="34" charset="0"/>
                        </a:rPr>
                        <a:t>0.17</a:t>
                      </a:r>
                      <a:endParaRPr lang="en-IN" sz="11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dirty="0">
                          <a:effectLst/>
                          <a:latin typeface="Times New Roman" panose="02020603050405020304" pitchFamily="18" charset="0"/>
                          <a:ea typeface="Times New Roman" panose="02020603050405020304" pitchFamily="18" charset="0"/>
                          <a:cs typeface="Gautami" panose="020B0502040204020203" pitchFamily="34" charset="0"/>
                        </a:rPr>
                        <a:t>0.44</a:t>
                      </a:r>
                      <a:endParaRPr lang="en-IN" sz="11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dirty="0">
                          <a:effectLst/>
                          <a:latin typeface="Times New Roman" panose="02020603050405020304" pitchFamily="18" charset="0"/>
                          <a:ea typeface="Times New Roman" panose="02020603050405020304" pitchFamily="18" charset="0"/>
                          <a:cs typeface="Gautami" panose="020B0502040204020203" pitchFamily="34" charset="0"/>
                        </a:rPr>
                        <a:t>NA</a:t>
                      </a:r>
                      <a:endParaRPr lang="en-IN" sz="11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0.71</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0.86</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19198640"/>
                  </a:ext>
                </a:extLst>
              </a:tr>
              <a:tr h="336550">
                <a:tc>
                  <a:txBody>
                    <a:bodyPr/>
                    <a:lstStyle/>
                    <a:p>
                      <a:pPr algn="ctr">
                        <a:lnSpc>
                          <a:spcPct val="115000"/>
                        </a:lnSpc>
                        <a:spcAft>
                          <a:spcPts val="800"/>
                        </a:spcAft>
                      </a:pPr>
                      <a:r>
                        <a:rPr lang="en-US" sz="1200" b="1" kern="0">
                          <a:effectLst/>
                          <a:latin typeface="Times New Roman" panose="02020603050405020304" pitchFamily="18" charset="0"/>
                          <a:ea typeface="Times New Roman" panose="02020603050405020304" pitchFamily="18" charset="0"/>
                          <a:cs typeface="Gautami" panose="020B0502040204020203" pitchFamily="34" charset="0"/>
                        </a:rPr>
                        <a:t>P3</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0.25</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0.57</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dirty="0">
                          <a:effectLst/>
                          <a:latin typeface="Times New Roman" panose="02020603050405020304" pitchFamily="18" charset="0"/>
                          <a:ea typeface="Times New Roman" panose="02020603050405020304" pitchFamily="18" charset="0"/>
                          <a:cs typeface="Gautami" panose="020B0502040204020203" pitchFamily="34" charset="0"/>
                        </a:rPr>
                        <a:t>NA</a:t>
                      </a:r>
                      <a:endParaRPr lang="en-IN" sz="11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dirty="0">
                          <a:effectLst/>
                          <a:latin typeface="Times New Roman" panose="02020603050405020304" pitchFamily="18" charset="0"/>
                          <a:ea typeface="Times New Roman" panose="02020603050405020304" pitchFamily="18" charset="0"/>
                          <a:cs typeface="Gautami" panose="020B0502040204020203" pitchFamily="34" charset="0"/>
                        </a:rPr>
                        <a:t>0.77</a:t>
                      </a:r>
                      <a:endParaRPr lang="en-IN" sz="11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dirty="0">
                          <a:effectLst/>
                          <a:latin typeface="Times New Roman" panose="02020603050405020304" pitchFamily="18" charset="0"/>
                          <a:ea typeface="Times New Roman" panose="02020603050405020304" pitchFamily="18" charset="0"/>
                          <a:cs typeface="Gautami" panose="020B0502040204020203" pitchFamily="34" charset="0"/>
                        </a:rPr>
                        <a:t>0.81</a:t>
                      </a:r>
                      <a:endParaRPr lang="en-IN" sz="11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1626889"/>
                  </a:ext>
                </a:extLst>
              </a:tr>
              <a:tr h="330835">
                <a:tc>
                  <a:txBody>
                    <a:bodyPr/>
                    <a:lstStyle/>
                    <a:p>
                      <a:pPr algn="ctr">
                        <a:lnSpc>
                          <a:spcPct val="115000"/>
                        </a:lnSpc>
                        <a:spcAft>
                          <a:spcPts val="800"/>
                        </a:spcAft>
                      </a:pPr>
                      <a:r>
                        <a:rPr lang="en-US" sz="1200" b="1" kern="0">
                          <a:effectLst/>
                          <a:latin typeface="Times New Roman" panose="02020603050405020304" pitchFamily="18" charset="0"/>
                          <a:ea typeface="Times New Roman" panose="02020603050405020304" pitchFamily="18" charset="0"/>
                          <a:cs typeface="Gautami" panose="020B0502040204020203" pitchFamily="34" charset="0"/>
                        </a:rPr>
                        <a:t>P4</a:t>
                      </a:r>
                      <a:endParaRPr lang="en-IN" sz="110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0.39</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0.38</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0.69</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a:effectLst/>
                          <a:latin typeface="Times New Roman" panose="02020603050405020304" pitchFamily="18" charset="0"/>
                          <a:ea typeface="Times New Roman" panose="02020603050405020304" pitchFamily="18" charset="0"/>
                          <a:cs typeface="Gautami" panose="020B0502040204020203" pitchFamily="34" charset="0"/>
                        </a:rPr>
                        <a:t>0.79</a:t>
                      </a:r>
                      <a:endParaRPr lang="en-IN" sz="1100" b="0" kern="10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800"/>
                        </a:spcAft>
                      </a:pPr>
                      <a:r>
                        <a:rPr lang="en-US" sz="1200" b="0" kern="0" dirty="0">
                          <a:effectLst/>
                          <a:latin typeface="Times New Roman" panose="02020603050405020304" pitchFamily="18" charset="0"/>
                          <a:ea typeface="Times New Roman" panose="02020603050405020304" pitchFamily="18" charset="0"/>
                          <a:cs typeface="Gautami" panose="020B0502040204020203" pitchFamily="34" charset="0"/>
                        </a:rPr>
                        <a:t>0.89</a:t>
                      </a:r>
                      <a:endParaRPr lang="en-IN" sz="1100" b="0" kern="100" dirty="0">
                        <a:effectLst/>
                        <a:latin typeface="Calibri" panose="020F0502020204030204" pitchFamily="34" charset="0"/>
                        <a:ea typeface="Calibri" panose="020F0502020204030204" pitchFamily="34" charset="0"/>
                        <a:cs typeface="Gautam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39661332"/>
                  </a:ext>
                </a:extLst>
              </a:tr>
            </a:tbl>
          </a:graphicData>
        </a:graphic>
      </p:graphicFrame>
      <p:sp>
        <p:nvSpPr>
          <p:cNvPr id="8" name="TextBox 7">
            <a:extLst>
              <a:ext uri="{FF2B5EF4-FFF2-40B4-BE49-F238E27FC236}">
                <a16:creationId xmlns:a16="http://schemas.microsoft.com/office/drawing/2014/main" id="{74E57C02-A709-498D-EB3B-1ABA90C5F864}"/>
              </a:ext>
            </a:extLst>
          </p:cNvPr>
          <p:cNvSpPr txBox="1"/>
          <p:nvPr/>
        </p:nvSpPr>
        <p:spPr>
          <a:xfrm>
            <a:off x="2438400" y="304800"/>
            <a:ext cx="3890617" cy="369332"/>
          </a:xfrm>
          <a:prstGeom prst="rect">
            <a:avLst/>
          </a:prstGeom>
          <a:noFill/>
        </p:spPr>
        <p:txBody>
          <a:bodyPr wrap="none" rtlCol="0">
            <a:spAutoFit/>
          </a:bodyPr>
          <a:lstStyle/>
          <a:p>
            <a:r>
              <a:rPr lang="en-IN" b="1" dirty="0">
                <a:solidFill>
                  <a:srgbClr val="3366FF"/>
                </a:solidFill>
              </a:rPr>
              <a:t>Multiclass Text Classification (F1 Score)</a:t>
            </a:r>
            <a:endParaRPr lang="en-IN" b="1" dirty="0"/>
          </a:p>
        </p:txBody>
      </p:sp>
      <p:graphicFrame>
        <p:nvGraphicFramePr>
          <p:cNvPr id="5" name="Multiclass Text Classiffication (Fine Tuning)">
            <a:extLst>
              <a:ext uri="{FF2B5EF4-FFF2-40B4-BE49-F238E27FC236}">
                <a16:creationId xmlns:a16="http://schemas.microsoft.com/office/drawing/2014/main" id="{A89605B0-1124-410D-AEED-04763B145100}"/>
              </a:ext>
            </a:extLst>
          </p:cNvPr>
          <p:cNvGraphicFramePr/>
          <p:nvPr>
            <p:extLst>
              <p:ext uri="{D42A27DB-BD31-4B8C-83A1-F6EECF244321}">
                <p14:modId xmlns:p14="http://schemas.microsoft.com/office/powerpoint/2010/main" val="3051710277"/>
              </p:ext>
            </p:extLst>
          </p:nvPr>
        </p:nvGraphicFramePr>
        <p:xfrm>
          <a:off x="3410989" y="3207240"/>
          <a:ext cx="5257800" cy="2819400"/>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8">
            <a:extLst>
              <a:ext uri="{FF2B5EF4-FFF2-40B4-BE49-F238E27FC236}">
                <a16:creationId xmlns:a16="http://schemas.microsoft.com/office/drawing/2014/main" id="{FD4979C7-B012-44F6-BBCD-C820A8B841DD}"/>
              </a:ext>
            </a:extLst>
          </p:cNvPr>
          <p:cNvSpPr/>
          <p:nvPr/>
        </p:nvSpPr>
        <p:spPr>
          <a:xfrm>
            <a:off x="990600" y="3379738"/>
            <a:ext cx="2590800" cy="2308324"/>
          </a:xfrm>
          <a:prstGeom prst="rect">
            <a:avLst/>
          </a:prstGeom>
        </p:spPr>
        <p:txBody>
          <a:bodyPr wrap="square">
            <a:spAutoFit/>
          </a:bodyPr>
          <a:lstStyle/>
          <a:p>
            <a:pPr algn="just"/>
            <a:r>
              <a:rPr lang="en-IN" kern="100" dirty="0">
                <a:solidFill>
                  <a:srgbClr val="0D0D0D"/>
                </a:solidFill>
                <a:latin typeface="Times New Roman" panose="02020603050405020304" pitchFamily="18" charset="0"/>
                <a:ea typeface="Calibri" panose="020F0502020204030204" pitchFamily="34" charset="0"/>
                <a:cs typeface="Gautami" panose="020B0502040204020203" pitchFamily="34" charset="0"/>
              </a:rPr>
              <a:t>The fine-tuning model demonstrates superior performance compared to existing NLP models such as BERT, BART, GEMINI, and GPT, achieving an average F1-Score of 0.87</a:t>
            </a:r>
            <a:endParaRPr lang="en-US" dirty="0"/>
          </a:p>
        </p:txBody>
      </p:sp>
    </p:spTree>
    <p:extLst>
      <p:ext uri="{BB962C8B-B14F-4D97-AF65-F5344CB8AC3E}">
        <p14:creationId xmlns:p14="http://schemas.microsoft.com/office/powerpoint/2010/main" val="1165371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083888-C06B-4F0A-806E-2C82E4A45559}"/>
              </a:ext>
            </a:extLst>
          </p:cNvPr>
          <p:cNvSpPr>
            <a:spLocks noGrp="1"/>
          </p:cNvSpPr>
          <p:nvPr>
            <p:ph type="sldNum" sz="quarter" idx="12"/>
          </p:nvPr>
        </p:nvSpPr>
        <p:spPr/>
        <p:txBody>
          <a:bodyPr/>
          <a:lstStyle/>
          <a:p>
            <a:fld id="{625BAD83-2C4C-4E42-8C1A-0F09C320E5DA}" type="slidenum">
              <a:rPr lang="en-US" smtClean="0"/>
              <a:pPr/>
              <a:t>16</a:t>
            </a:fld>
            <a:endParaRPr lang="en-US"/>
          </a:p>
        </p:txBody>
      </p:sp>
      <p:sp>
        <p:nvSpPr>
          <p:cNvPr id="5" name="Rectangle 4">
            <a:extLst>
              <a:ext uri="{FF2B5EF4-FFF2-40B4-BE49-F238E27FC236}">
                <a16:creationId xmlns:a16="http://schemas.microsoft.com/office/drawing/2014/main" id="{DE4ACED8-3F4B-40A1-BCBF-73EC09422D0B}"/>
              </a:ext>
            </a:extLst>
          </p:cNvPr>
          <p:cNvSpPr/>
          <p:nvPr/>
        </p:nvSpPr>
        <p:spPr>
          <a:xfrm>
            <a:off x="990600" y="921749"/>
            <a:ext cx="7620000" cy="5078313"/>
          </a:xfrm>
          <a:prstGeom prst="rect">
            <a:avLst/>
          </a:prstGeom>
        </p:spPr>
        <p:txBody>
          <a:bodyPr wrap="square">
            <a:spAutoFit/>
          </a:bodyPr>
          <a:lstStyle/>
          <a:p>
            <a:pPr algn="just" hangingPunct="0"/>
            <a:r>
              <a:rPr lang="en-US" dirty="0">
                <a:ea typeface="Times New Roman" panose="02020603050405020304" pitchFamily="18" charset="0"/>
                <a:cs typeface="Times New Roman" panose="02020603050405020304" pitchFamily="18" charset="0"/>
              </a:rPr>
              <a:t>The</a:t>
            </a:r>
            <a:r>
              <a:rPr lang="en-US" spc="-6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proposed</a:t>
            </a:r>
            <a:r>
              <a:rPr lang="en-US" spc="-6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model</a:t>
            </a:r>
            <a:r>
              <a:rPr lang="en-US" spc="-6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evolved</a:t>
            </a:r>
            <a:r>
              <a:rPr lang="en-US" spc="-6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through</a:t>
            </a:r>
            <a:r>
              <a:rPr lang="en-US" spc="-6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the</a:t>
            </a:r>
            <a:r>
              <a:rPr lang="en-US" spc="-6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fine-tuning</a:t>
            </a:r>
            <a:r>
              <a:rPr lang="en-US" spc="-6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of</a:t>
            </a:r>
            <a:r>
              <a:rPr lang="en-US" spc="-6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GPTs and</a:t>
            </a:r>
            <a:r>
              <a:rPr lang="en-US" spc="-4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LLMs.</a:t>
            </a:r>
            <a:r>
              <a:rPr lang="en-US" spc="-4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To</a:t>
            </a:r>
            <a:r>
              <a:rPr lang="en-US" spc="-4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enhance</a:t>
            </a:r>
            <a:r>
              <a:rPr lang="en-US" spc="-4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its</a:t>
            </a:r>
            <a:r>
              <a:rPr lang="en-US" spc="-4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capabilities,</a:t>
            </a:r>
            <a:r>
              <a:rPr lang="en-US" spc="-3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we</a:t>
            </a:r>
            <a:r>
              <a:rPr lang="en-US" spc="-4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incorporated</a:t>
            </a:r>
            <a:r>
              <a:rPr lang="en-US" spc="-2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fine-tuning</a:t>
            </a:r>
            <a:r>
              <a:rPr lang="en-US" spc="-3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technology,</a:t>
            </a:r>
            <a:r>
              <a:rPr lang="en-US" spc="-2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which</a:t>
            </a:r>
            <a:r>
              <a:rPr lang="en-US" spc="-3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facilitated</a:t>
            </a:r>
            <a:r>
              <a:rPr lang="en-US" spc="-2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the</a:t>
            </a:r>
            <a:r>
              <a:rPr lang="en-US" spc="-3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execution</a:t>
            </a:r>
            <a:r>
              <a:rPr lang="en-US" spc="-3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of</a:t>
            </a:r>
            <a:r>
              <a:rPr lang="en-US" spc="-2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various intricate</a:t>
            </a:r>
            <a:r>
              <a:rPr lang="en-US" spc="-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tasks.</a:t>
            </a:r>
            <a:r>
              <a:rPr lang="en-US" spc="-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Notably,</a:t>
            </a:r>
            <a:r>
              <a:rPr lang="en-US" spc="-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the</a:t>
            </a:r>
            <a:r>
              <a:rPr lang="en-US" spc="-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library's</a:t>
            </a:r>
            <a:r>
              <a:rPr lang="en-US" spc="-1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pipe</a:t>
            </a:r>
            <a:r>
              <a:rPr lang="en-US" spc="-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fit module</a:t>
            </a:r>
            <a:r>
              <a:rPr lang="en-US" spc="-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enabled the model to effectively extract entities and relationships, further augmenting its proficiency in handling diverse text processing requirements.</a:t>
            </a:r>
          </a:p>
          <a:p>
            <a:pPr algn="just" hangingPunct="0"/>
            <a:endParaRPr lang="en-US" dirty="0">
              <a:ea typeface="Times New Roman" panose="02020603050405020304" pitchFamily="18" charset="0"/>
              <a:cs typeface="Times New Roman" panose="02020603050405020304" pitchFamily="18" charset="0"/>
            </a:endParaRPr>
          </a:p>
          <a:p>
            <a:pPr algn="just" hangingPunct="0"/>
            <a:r>
              <a:rPr lang="en-US" dirty="0">
                <a:ea typeface="Times New Roman" panose="02020603050405020304" pitchFamily="18" charset="0"/>
                <a:cs typeface="Times New Roman" panose="02020603050405020304" pitchFamily="18" charset="0"/>
              </a:rPr>
              <a:t>While previous attempts have tackled similar tasks, they often struggled with low accuracy rates. However, our proposed model has achieved a notable 80% accuracy, representing a significant performance improvement. This enhanced accuracy underscores the effectiveness of our approach, distinguishing it from previous endeavors and highlighting its potential for robust and reliable text classification tasks.</a:t>
            </a:r>
          </a:p>
          <a:p>
            <a:pPr algn="just" hangingPunct="0"/>
            <a:endParaRPr lang="en-US" dirty="0">
              <a:ea typeface="Times New Roman" panose="02020603050405020304" pitchFamily="18" charset="0"/>
              <a:cs typeface="Times New Roman" panose="02020603050405020304" pitchFamily="18" charset="0"/>
            </a:endParaRPr>
          </a:p>
          <a:p>
            <a:pPr algn="just" hangingPunct="0"/>
            <a:r>
              <a:rPr lang="en-US" dirty="0">
                <a:ea typeface="Times New Roman" panose="02020603050405020304" pitchFamily="18" charset="0"/>
                <a:cs typeface="Times New Roman" panose="02020603050405020304" pitchFamily="18" charset="0"/>
              </a:rPr>
              <a:t>As our model is built upon the foundation of GPTs and LLMs, future</a:t>
            </a:r>
            <a:r>
              <a:rPr lang="en-US" spc="-1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advancements</a:t>
            </a:r>
            <a:r>
              <a:rPr lang="en-US" spc="-1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in</a:t>
            </a:r>
            <a:r>
              <a:rPr lang="en-US" spc="-2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this</a:t>
            </a:r>
            <a:r>
              <a:rPr lang="en-US" spc="-5"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technology</a:t>
            </a:r>
            <a:r>
              <a:rPr lang="en-US" spc="-1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hold</a:t>
            </a:r>
            <a:r>
              <a:rPr lang="en-US" spc="-10" dirty="0">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promise for further improvements. With the introduction of new iterations, the model's accuracy and capacity to handle diverse datasets may see significant enhancements</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DB1DDAC3-0A4D-4913-AA6E-EBD9459B1FDF}"/>
              </a:ext>
            </a:extLst>
          </p:cNvPr>
          <p:cNvSpPr txBox="1"/>
          <p:nvPr/>
        </p:nvSpPr>
        <p:spPr>
          <a:xfrm>
            <a:off x="762000" y="381000"/>
            <a:ext cx="1806905" cy="523220"/>
          </a:xfrm>
          <a:prstGeom prst="rect">
            <a:avLst/>
          </a:prstGeom>
          <a:noFill/>
        </p:spPr>
        <p:txBody>
          <a:bodyPr wrap="none" rtlCol="0">
            <a:spAutoFit/>
          </a:bodyPr>
          <a:lstStyle/>
          <a:p>
            <a:r>
              <a:rPr lang="en-IN" sz="2800" b="1" dirty="0">
                <a:solidFill>
                  <a:srgbClr val="3366FF"/>
                </a:solidFill>
                <a:latin typeface="+mj-lt"/>
              </a:rPr>
              <a:t>Conclusion</a:t>
            </a:r>
            <a:endParaRPr lang="en-US" sz="2800" dirty="0">
              <a:solidFill>
                <a:srgbClr val="3366FF"/>
              </a:solidFill>
              <a:latin typeface="+mj-lt"/>
            </a:endParaRPr>
          </a:p>
        </p:txBody>
      </p:sp>
    </p:spTree>
    <p:extLst>
      <p:ext uri="{BB962C8B-B14F-4D97-AF65-F5344CB8AC3E}">
        <p14:creationId xmlns:p14="http://schemas.microsoft.com/office/powerpoint/2010/main" val="2087094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1080</TotalTime>
  <Words>1793</Words>
  <Application>Microsoft Office PowerPoint</Application>
  <PresentationFormat>On-screen Show (4:3)</PresentationFormat>
  <Paragraphs>206</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ITHOD</dc:creator>
  <cp:lastModifiedBy>manne sumanth</cp:lastModifiedBy>
  <cp:revision>125</cp:revision>
  <dcterms:created xsi:type="dcterms:W3CDTF">2024-02-08T14:09:26Z</dcterms:created>
  <dcterms:modified xsi:type="dcterms:W3CDTF">2025-11-05T16:39:46Z</dcterms:modified>
</cp:coreProperties>
</file>